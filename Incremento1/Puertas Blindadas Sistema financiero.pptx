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10287000" cx="18288000"/>
  <p:notesSz cx="6858000" cy="9144000"/>
  <p:embeddedFontLst>
    <p:embeddedFont>
      <p:font typeface="Inter"/>
      <p:regular r:id="rId25"/>
      <p:bold r:id="rId26"/>
      <p:italic r:id="rId27"/>
      <p:boldItalic r:id="rId28"/>
    </p:embeddedFont>
    <p:embeddedFont>
      <p:font typeface="Poppins Black"/>
      <p:bold r:id="rId29"/>
      <p:boldItalic r:id="rId30"/>
    </p:embeddedFont>
    <p:embeddedFont>
      <p:font typeface="Inter Medium"/>
      <p:regular r:id="rId31"/>
      <p:bold r:id="rId32"/>
      <p:italic r:id="rId33"/>
      <p:boldItalic r:id="rId34"/>
    </p:embeddedFont>
    <p:embeddedFont>
      <p:font typeface="Open Sans"/>
      <p:bold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7" roundtripDataSignature="AMtx7mhjmgjN+0NXJoRJWUSs0Ws1unjQ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DCE7E7-3EC1-47B3-8F9D-C97859B80426}">
  <a:tblStyle styleId="{30DCE7E7-3EC1-47B3-8F9D-C97859B8042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Black-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Medium-regular.fntdata"/><Relationship Id="rId30" Type="http://schemas.openxmlformats.org/officeDocument/2006/relationships/font" Target="fonts/PoppinsBlack-boldItalic.fntdata"/><Relationship Id="rId11" Type="http://schemas.openxmlformats.org/officeDocument/2006/relationships/slide" Target="slides/slide5.xml"/><Relationship Id="rId33" Type="http://schemas.openxmlformats.org/officeDocument/2006/relationships/font" Target="fonts/InterMedium-italic.fntdata"/><Relationship Id="rId10" Type="http://schemas.openxmlformats.org/officeDocument/2006/relationships/slide" Target="slides/slide4.xml"/><Relationship Id="rId32" Type="http://schemas.openxmlformats.org/officeDocument/2006/relationships/font" Target="fonts/InterMedium-bold.fntdata"/><Relationship Id="rId13" Type="http://schemas.openxmlformats.org/officeDocument/2006/relationships/slide" Target="slides/slide7.xml"/><Relationship Id="rId35" Type="http://schemas.openxmlformats.org/officeDocument/2006/relationships/font" Target="fonts/OpenSans-bold.fntdata"/><Relationship Id="rId12" Type="http://schemas.openxmlformats.org/officeDocument/2006/relationships/slide" Target="slides/slide6.xml"/><Relationship Id="rId34" Type="http://schemas.openxmlformats.org/officeDocument/2006/relationships/font" Target="fonts/InterMedium-boldItalic.fntdata"/><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font" Target="fonts/Open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Somos el equipo del Modulo Financiero para Puertas Blindadas. En esta presentación mostraremos el Incremento 1.</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4" name="Google Shape;114;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15" name="Google Shape;115;p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presentación se organiza en una visión general del incremento, luego una revisión de la modologia utilizada y finalmente dos requerimientos representativos del negocio.</a:t>
            </a:r>
            <a:endParaRPr/>
          </a:p>
        </p:txBody>
      </p:sp>
      <p:sp>
        <p:nvSpPr>
          <p:cNvPr id="117" name="Google Shape;117;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8" name="Google Shape;118;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7" name="Google Shape;167;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68" name="Google Shape;168;p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este primer incremento se consideran 23 requerimientos funcionales, equivalentes aproximadamente al 32% del proyecto total.</a:t>
            </a:r>
            <a:endParaRPr/>
          </a:p>
          <a:p>
            <a:pPr indent="0" lvl="0" marL="0" rtl="0" algn="l">
              <a:spcBef>
                <a:spcPts val="0"/>
              </a:spcBef>
              <a:spcAft>
                <a:spcPts val="0"/>
              </a:spcAft>
              <a:buNone/>
            </a:pPr>
            <a:r>
              <a:rPr lang="en-US"/>
              <a:t>Este incremento cubre principalmente dos áreas: la integración y ficha de clientes, y las cotizaciones y notas de venta.</a:t>
            </a:r>
            <a:endParaRPr/>
          </a:p>
          <a:p>
            <a:pPr indent="0" lvl="0" marL="0" rtl="0" algn="l">
              <a:spcBef>
                <a:spcPts val="0"/>
              </a:spcBef>
              <a:spcAft>
                <a:spcPts val="0"/>
              </a:spcAft>
              <a:buNone/>
            </a:pPr>
            <a:r>
              <a:rPr lang="en-US"/>
              <a:t>Por eso, este incremento permite construir la primera capa funcional sobre la que se apoyarán los siguientes módulos.</a:t>
            </a:r>
            <a:endParaRPr/>
          </a:p>
        </p:txBody>
      </p:sp>
      <p:sp>
        <p:nvSpPr>
          <p:cNvPr id="170" name="Google Shape;170;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1" name="Google Shape;171;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6" name="Google Shape;206;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07" name="Google Shape;207;p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diagrama de componentes muestra la separación lógica del sistema.</a:t>
            </a:r>
            <a:endParaRPr/>
          </a:p>
          <a:p>
            <a:pPr indent="0" lvl="0" marL="0" rtl="0" algn="l">
              <a:spcBef>
                <a:spcPts val="0"/>
              </a:spcBef>
              <a:spcAft>
                <a:spcPts val="0"/>
              </a:spcAft>
              <a:buNone/>
            </a:pPr>
            <a:r>
              <a:rPr lang="en-US"/>
              <a:t>Tenemos una capa de presentación, donde interactúa el usuario; una capa de control o lógica de aplicación, donde se procesan las solicitudes; y una capa de datos, donde se consulta o actualiza la información en PostgreSQL.</a:t>
            </a:r>
            <a:endParaRPr/>
          </a:p>
          <a:p>
            <a:pPr indent="0" lvl="0" marL="0" rtl="0" algn="l">
              <a:spcBef>
                <a:spcPts val="0"/>
              </a:spcBef>
              <a:spcAft>
                <a:spcPts val="0"/>
              </a:spcAft>
              <a:buNone/>
            </a:pPr>
            <a:r>
              <a:rPr lang="en-US"/>
              <a:t>Esta división permite que cada parte tenga una responsabilidad clara y facilita el mantenimiento del sistema.</a:t>
            </a:r>
            <a:endParaRPr/>
          </a:p>
        </p:txBody>
      </p:sp>
      <p:sp>
        <p:nvSpPr>
          <p:cNvPr id="209" name="Google Shape;209;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0" name="Google Shape;210;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3" name="Google Shape;223;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24" name="Google Shape;224;p5: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el diagrama de despliegue se muestra cómo se distribuye el sistema a nivel de infraestructura.</a:t>
            </a:r>
            <a:endParaRPr/>
          </a:p>
          <a:p>
            <a:pPr indent="0" lvl="0" marL="0" rtl="0" algn="l">
              <a:spcBef>
                <a:spcPts val="0"/>
              </a:spcBef>
              <a:spcAft>
                <a:spcPts val="0"/>
              </a:spcAft>
              <a:buNone/>
            </a:pPr>
            <a:r>
              <a:rPr lang="en-US"/>
              <a:t>La aplicación se comunica con una base de datos centralizada, lo que permite reemplazar registros dispersos o manuales por información persistente, ordenada y disponible para los distintos procesos financieros.</a:t>
            </a:r>
            <a:endParaRPr/>
          </a:p>
        </p:txBody>
      </p:sp>
      <p:sp>
        <p:nvSpPr>
          <p:cNvPr id="226" name="Google Shape;226;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7" name="Google Shape;227;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39" name="Google Shape;239;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40" name="Google Shape;240;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Aqui se puede ver el segmento del modelo de datos que representa cómo se estructura la información necesaria para este incremento.</a:t>
            </a:r>
            <a:endParaRPr/>
          </a:p>
          <a:p>
            <a:pPr indent="0" lvl="0" marL="0" rtl="0" algn="l">
              <a:spcBef>
                <a:spcPts val="0"/>
              </a:spcBef>
              <a:spcAft>
                <a:spcPts val="0"/>
              </a:spcAft>
              <a:buNone/>
            </a:pPr>
            <a:r>
              <a:rPr lang="en-US"/>
              <a:t>Lo importante es que las entidades no quedan aisladas: el cliente se relaciona con su ficha financiera, sus cotizaciones, sus notas de venta y, posteriormente, con pagos y documentos asociados.</a:t>
            </a:r>
            <a:endParaRPr/>
          </a:p>
          <a:p>
            <a:pPr indent="0" lvl="0" marL="0" rtl="0" algn="l">
              <a:spcBef>
                <a:spcPts val="0"/>
              </a:spcBef>
              <a:spcAft>
                <a:spcPts val="0"/>
              </a:spcAft>
              <a:buNone/>
            </a:pPr>
            <a:r>
              <a:rPr lang="en-US"/>
              <a:t>Esto permite mantener trazabilidad entre lo que se cotiza, lo que se vende y lo que después podrá cobrarse o reportarse.</a:t>
            </a:r>
            <a:endParaRPr/>
          </a:p>
        </p:txBody>
      </p:sp>
      <p:sp>
        <p:nvSpPr>
          <p:cNvPr id="242" name="Google Shape;242;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43" name="Google Shape;243;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61" name="Google Shape;261;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62" name="Google Shape;262;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este incremento se consideran cinco vistas: Catálogo de Clientes, Ficha Financiera, Gestión de Cotizaciones, Nota de Venta Directa y Gestión de Nota de Venta.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Cada una agrupa las funcionalidades asociadas a los requerimientos del incremento. Por ejemplo, el catálogo permite cargar, buscar y filtrar clientes; la ficha financiera permite consultar el historial del cliente; la gestión de cotizaciones concentra el cálculo y aprobación de cotizaciones; y las vistas de nota de venta permiten crear ventas directas, aplicar descuentos, manejar divisas, impuestos, folios y anulaciones.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 esta forma, el árbol permite visualizar cómo los 23 requerimientos funcionales del incremento se traducen en navegación concreta dentro del sistema.</a:t>
            </a:r>
            <a:endParaRPr/>
          </a:p>
        </p:txBody>
      </p:sp>
      <p:sp>
        <p:nvSpPr>
          <p:cNvPr id="264" name="Google Shape;264;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65" name="Google Shape;265;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3" name="Google Shape;283;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84" name="Google Shape;284;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primer requerimiento a destacar (mejor usar representativo, para consistencia, ya que es como lo decimos al inico y como lo menciono el profe) es el requerimiento RF02, el cuál permite al usuario visualizar la información financiera del cliente, sin modificarla. La Ficha financiera del cliente almacena los datos de contacto, el historial de notas de venta y los pagos asociados a este.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Permitiendo una rapida evaluación del comportamiento de pago, el historial comercial y el estado de deudas del cliente.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Este requerimiento pasa al UR (Requisito de Usuario (no creo que sea necesario decirlo, con decir UR, deberia bastar) 1.2, y se visualiza en el Caso de Uso 02, manteniendo el mismo procedimiento.</a:t>
            </a:r>
            <a:endParaRPr/>
          </a:p>
        </p:txBody>
      </p:sp>
      <p:sp>
        <p:nvSpPr>
          <p:cNvPr id="286" name="Google Shape;286;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7" name="Google Shape;287;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27" name="Google Shape;327;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28" name="Google Shape;328;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diagrama de caso de uso muestra la interacción del usuario con la consulta de la ficha financiera, donde el usuario solicita esta información del cliente, y estas solicitudes se dirigen a la Base de Datos para obtener los datos del cliente, las notas de venta y pagos asociados.</a:t>
            </a:r>
            <a:endParaRPr/>
          </a:p>
        </p:txBody>
      </p:sp>
      <p:sp>
        <p:nvSpPr>
          <p:cNvPr id="330" name="Google Shape;330;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31" name="Google Shape;331;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6" name="Google Shape;346;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47" name="Google Shape;347;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el diagrama de secuencia se muestra el comportamiento interno ante estas consultas del usuario. Por tanto el usuario consulta en la vista Ficha Cliente, la ficha del cliente seleccionado, esta consulta pasa por el controlador del modulo de finanzas, luego por los controladores pertinentes para los datos, las notas de venta y los pagos asociados. Para después devolver la ficha completa con esta información financiera.</a:t>
            </a:r>
            <a:endParaRPr/>
          </a:p>
        </p:txBody>
      </p:sp>
      <p:sp>
        <p:nvSpPr>
          <p:cNvPr id="349" name="Google Shape;349;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50" name="Google Shape;350;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65" name="Google Shape;365;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66" name="Google Shape;366;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excepción de este diagrama, es cuando el cliente no tenga asociados registros de Nota de ventas o pagos asociados, por tanto el sistema informa que el cliente seleccionado no posee un historial comercial</a:t>
            </a:r>
            <a:endParaRPr/>
          </a:p>
        </p:txBody>
      </p:sp>
      <p:sp>
        <p:nvSpPr>
          <p:cNvPr id="368" name="Google Shape;368;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69" name="Google Shape;369;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83" name="Google Shape;383;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84" name="Google Shape;384;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segundo requerimiento destacado es el RF19, correspondiente a la aplicación manual de descuentos monetarios al valor total de venta.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Este requerimiento permite aplicar una rebaja comercial sobre una nota de venta, ya sea como monto fijo o como porcentaje.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Su importancia está en que entrega flexibilidad comercial, pero mantiene el cálculo dentro del sistema. Así se evita modificar valores manualmente o perder trazabilidad sobre el monto original, el descuento aplicado y el total final.</a:t>
            </a:r>
            <a:endParaRPr/>
          </a:p>
        </p:txBody>
      </p:sp>
      <p:sp>
        <p:nvSpPr>
          <p:cNvPr id="386" name="Google Shape;386;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87" name="Google Shape;387;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27" name="Google Shape;427;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28" name="Google Shape;428;p1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este caso de uso, el usuario de finanzas aplica un descuento sobre una venta.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sistema recibe el tipo de descuento, calcula el nuevo total y actualiza la información de la nota de venta.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Esta funcionalidad es útil cuando existen acuerdos comerciales, promociones o ajustes autorizados sobre el precio final.</a:t>
            </a:r>
            <a:endParaRPr/>
          </a:p>
        </p:txBody>
      </p:sp>
      <p:sp>
        <p:nvSpPr>
          <p:cNvPr id="430" name="Google Shape;430;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31" name="Google Shape;431;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54" name="Google Shape;454;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55" name="Google Shape;455;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diagrama de secuencia muestra el proceso completo: el usuario selecciona aplicar descuento, ingresa el valor, el sistema calcula el descuento y obtiene el nuevo saldo.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Luego, antes de guardar, se valida la operación y se actualiza la nota de venta en la base de datos.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Esto asegura que el descuento no quede solo como un cálculo visual, sino como una modificación persistente y trazable.</a:t>
            </a:r>
            <a:endParaRPr/>
          </a:p>
        </p:txBody>
      </p:sp>
      <p:sp>
        <p:nvSpPr>
          <p:cNvPr id="457" name="Google Shape;457;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58" name="Google Shape;458;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72" name="Google Shape;472;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73" name="Google Shape;473;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los escenarios de excepción se consideran casos como un descuento inválido, un porcentaje fuera de rango o un monto mayor al total de la venta.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En esos casos, el sistema debe bloquear la operación y mostrar un mensaje de error.</a:t>
            </a:r>
            <a:endParaRPr/>
          </a:p>
        </p:txBody>
      </p:sp>
      <p:sp>
        <p:nvSpPr>
          <p:cNvPr id="475" name="Google Shape;475;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76" name="Google Shape;476;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90" name="Google Shape;490;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91" name="Google Shape;491;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También se consideran errores al momento de guardar o validar la operación.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idea es evitar que una nota de venta quede en un estado inconsistente si ocurre un problema durante el proceso.</a:t>
            </a:r>
            <a:endParaRPr/>
          </a:p>
        </p:txBody>
      </p:sp>
      <p:sp>
        <p:nvSpPr>
          <p:cNvPr id="493" name="Google Shape;493;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94" name="Google Shape;494;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09" name="Google Shape;509;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10" name="Google Shape;510;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 esto terminamos la explicación del incremento y pasamos a la demostración, donde se evidenciará cómo estos requerimientos se reflejan en el funcionamiento del sistema.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Desde este punto comienza la demo, que tiene duración aparte.</a:t>
            </a:r>
            <a:endParaRPr/>
          </a:p>
        </p:txBody>
      </p:sp>
      <p:sp>
        <p:nvSpPr>
          <p:cNvPr id="512" name="Google Shape;512;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13" name="Google Shape;513;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30" name="Google Shape;530;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31" name="Google Shape;531;p18: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Somos el equipo del Modulo Financiero para Puertas Blindadas. En esta presentación mostraremos el Incremento 1.</a:t>
            </a:r>
            <a:endParaRPr/>
          </a:p>
        </p:txBody>
      </p:sp>
      <p:sp>
        <p:nvSpPr>
          <p:cNvPr id="533" name="Google Shape;533;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34" name="Google Shape;534;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8"/>
          <p:cNvSpPr/>
          <p:nvPr>
            <p:ph idx="2" type="pic"/>
          </p:nvPr>
        </p:nvSpPr>
        <p:spPr>
          <a:xfrm>
            <a:off x="1792288" y="612775"/>
            <a:ext cx="5486400" cy="4114800"/>
          </a:xfrm>
          <a:prstGeom prst="rect">
            <a:avLst/>
          </a:prstGeom>
          <a:noFill/>
          <a:ln>
            <a:noFill/>
          </a:ln>
        </p:spPr>
      </p:sp>
      <p:sp>
        <p:nvSpPr>
          <p:cNvPr id="68" name="Google Shape;68;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drive.google.com/file/d/1Tg_xYXwzOUxzThoA0ikqjuEIfe2waA14/view" TargetMode="Externa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91" name="Shape 91"/>
        <p:cNvGrpSpPr/>
        <p:nvPr/>
      </p:nvGrpSpPr>
      <p:grpSpPr>
        <a:xfrm>
          <a:off x="0" y="0"/>
          <a:ext cx="0" cy="0"/>
          <a:chOff x="0" y="0"/>
          <a:chExt cx="0" cy="0"/>
        </a:xfrm>
      </p:grpSpPr>
      <p:grpSp>
        <p:nvGrpSpPr>
          <p:cNvPr id="92" name="Google Shape;92;p1"/>
          <p:cNvGrpSpPr/>
          <p:nvPr/>
        </p:nvGrpSpPr>
        <p:grpSpPr>
          <a:xfrm>
            <a:off x="-4432416" y="4521897"/>
            <a:ext cx="7613660" cy="7613660"/>
            <a:chOff x="0" y="0"/>
            <a:chExt cx="812800" cy="812800"/>
          </a:xfrm>
        </p:grpSpPr>
        <p:sp>
          <p:nvSpPr>
            <p:cNvPr id="93" name="Google Shape;93;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 name="Google Shape;95;p1"/>
          <p:cNvGrpSpPr/>
          <p:nvPr/>
        </p:nvGrpSpPr>
        <p:grpSpPr>
          <a:xfrm>
            <a:off x="-106638" y="7826559"/>
            <a:ext cx="18501275" cy="2692611"/>
            <a:chOff x="0" y="-38100"/>
            <a:chExt cx="4872764" cy="709165"/>
          </a:xfrm>
        </p:grpSpPr>
        <p:sp>
          <p:nvSpPr>
            <p:cNvPr id="96" name="Google Shape;96;p1"/>
            <p:cNvSpPr/>
            <p:nvPr/>
          </p:nvSpPr>
          <p:spPr>
            <a:xfrm>
              <a:off x="0" y="0"/>
              <a:ext cx="4872764" cy="671065"/>
            </a:xfrm>
            <a:custGeom>
              <a:rect b="b" l="l" r="r" t="t"/>
              <a:pathLst>
                <a:path extrusionOk="0" h="671065" w="4872764">
                  <a:moveTo>
                    <a:pt x="0" y="0"/>
                  </a:moveTo>
                  <a:lnTo>
                    <a:pt x="4872764" y="0"/>
                  </a:lnTo>
                  <a:lnTo>
                    <a:pt x="4872764" y="671065"/>
                  </a:lnTo>
                  <a:lnTo>
                    <a:pt x="0" y="67106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1"/>
            <p:cNvSpPr txBox="1"/>
            <p:nvPr/>
          </p:nvSpPr>
          <p:spPr>
            <a:xfrm>
              <a:off x="0" y="-38100"/>
              <a:ext cx="4872764" cy="70916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8" name="Google Shape;98;p1"/>
          <p:cNvGrpSpPr/>
          <p:nvPr/>
        </p:nvGrpSpPr>
        <p:grpSpPr>
          <a:xfrm>
            <a:off x="13172228" y="2080353"/>
            <a:ext cx="2291432" cy="2291432"/>
            <a:chOff x="0" y="0"/>
            <a:chExt cx="812800" cy="812800"/>
          </a:xfrm>
        </p:grpSpPr>
        <p:sp>
          <p:nvSpPr>
            <p:cNvPr id="99" name="Google Shape;99;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1" name="Google Shape;101;p1"/>
          <p:cNvSpPr/>
          <p:nvPr/>
        </p:nvSpPr>
        <p:spPr>
          <a:xfrm flipH="1">
            <a:off x="10749198" y="6312597"/>
            <a:ext cx="4714462" cy="420373"/>
          </a:xfrm>
          <a:custGeom>
            <a:rect b="b" l="l" r="r" t="t"/>
            <a:pathLst>
              <a:path extrusionOk="0" h="420373" w="4714462">
                <a:moveTo>
                  <a:pt x="4714463" y="0"/>
                </a:moveTo>
                <a:lnTo>
                  <a:pt x="0" y="0"/>
                </a:lnTo>
                <a:lnTo>
                  <a:pt x="0" y="420373"/>
                </a:lnTo>
                <a:lnTo>
                  <a:pt x="4714463" y="420373"/>
                </a:lnTo>
                <a:lnTo>
                  <a:pt x="4714463"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2" name="Google Shape;102;p1"/>
          <p:cNvGrpSpPr/>
          <p:nvPr/>
        </p:nvGrpSpPr>
        <p:grpSpPr>
          <a:xfrm>
            <a:off x="-2609694" y="5597423"/>
            <a:ext cx="4689577" cy="4689577"/>
            <a:chOff x="0" y="0"/>
            <a:chExt cx="812800" cy="812800"/>
          </a:xfrm>
        </p:grpSpPr>
        <p:sp>
          <p:nvSpPr>
            <p:cNvPr id="103" name="Google Shape;103;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5" name="Google Shape;105;p1"/>
          <p:cNvGrpSpPr/>
          <p:nvPr/>
        </p:nvGrpSpPr>
        <p:grpSpPr>
          <a:xfrm>
            <a:off x="14740038" y="-3443680"/>
            <a:ext cx="6669748" cy="6669748"/>
            <a:chOff x="0" y="0"/>
            <a:chExt cx="812800" cy="812800"/>
          </a:xfrm>
        </p:grpSpPr>
        <p:sp>
          <p:nvSpPr>
            <p:cNvPr id="106" name="Google Shape;106;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8" name="Google Shape;108;p1"/>
          <p:cNvSpPr/>
          <p:nvPr/>
        </p:nvSpPr>
        <p:spPr>
          <a:xfrm>
            <a:off x="14317944" y="8835817"/>
            <a:ext cx="1145716" cy="422483"/>
          </a:xfrm>
          <a:custGeom>
            <a:rect b="b" l="l" r="r" t="t"/>
            <a:pathLst>
              <a:path extrusionOk="0" h="422483" w="1145716">
                <a:moveTo>
                  <a:pt x="0" y="0"/>
                </a:moveTo>
                <a:lnTo>
                  <a:pt x="1145717" y="0"/>
                </a:lnTo>
                <a:lnTo>
                  <a:pt x="1145717" y="422483"/>
                </a:lnTo>
                <a:lnTo>
                  <a:pt x="0" y="422483"/>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1"/>
          <p:cNvSpPr txBox="1"/>
          <p:nvPr/>
        </p:nvSpPr>
        <p:spPr>
          <a:xfrm>
            <a:off x="1143000" y="2461975"/>
            <a:ext cx="16383000" cy="2641749"/>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lang="en-US" sz="9999">
                <a:solidFill>
                  <a:srgbClr val="000000"/>
                </a:solidFill>
                <a:latin typeface="Impact"/>
                <a:ea typeface="Impact"/>
                <a:cs typeface="Impact"/>
                <a:sym typeface="Impact"/>
              </a:rPr>
              <a:t>GRUPO 18:PUERTAS BLINDADAS - MODULO FINANCIERO</a:t>
            </a:r>
            <a:endParaRPr/>
          </a:p>
        </p:txBody>
      </p:sp>
      <p:sp>
        <p:nvSpPr>
          <p:cNvPr id="110" name="Google Shape;110;p1"/>
          <p:cNvSpPr txBox="1"/>
          <p:nvPr/>
        </p:nvSpPr>
        <p:spPr>
          <a:xfrm>
            <a:off x="2079884" y="5597422"/>
            <a:ext cx="5851800" cy="2164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Angella Sanchez</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Daniella Lecanda</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Gianella Catalán</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Sebastian Bravo</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Vicente Hernandez</a:t>
            </a:r>
            <a:endParaRPr/>
          </a:p>
        </p:txBody>
      </p:sp>
      <p:sp>
        <p:nvSpPr>
          <p:cNvPr id="111" name="Google Shape;111;p1"/>
          <p:cNvSpPr/>
          <p:nvPr/>
        </p:nvSpPr>
        <p:spPr>
          <a:xfrm>
            <a:off x="285085" y="176461"/>
            <a:ext cx="5519290" cy="2028339"/>
          </a:xfrm>
          <a:custGeom>
            <a:rect b="b" l="l" r="r" t="t"/>
            <a:pathLst>
              <a:path extrusionOk="0" h="2028339" w="5519290">
                <a:moveTo>
                  <a:pt x="0" y="0"/>
                </a:moveTo>
                <a:lnTo>
                  <a:pt x="5519289" y="0"/>
                </a:lnTo>
                <a:lnTo>
                  <a:pt x="5519289" y="2028339"/>
                </a:lnTo>
                <a:lnTo>
                  <a:pt x="0" y="202833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119" name="Shape 119"/>
        <p:cNvGrpSpPr/>
        <p:nvPr/>
      </p:nvGrpSpPr>
      <p:grpSpPr>
        <a:xfrm>
          <a:off x="0" y="0"/>
          <a:ext cx="0" cy="0"/>
          <a:chOff x="0" y="0"/>
          <a:chExt cx="0" cy="0"/>
        </a:xfrm>
      </p:grpSpPr>
      <p:grpSp>
        <p:nvGrpSpPr>
          <p:cNvPr id="120" name="Google Shape;120;p2"/>
          <p:cNvGrpSpPr/>
          <p:nvPr/>
        </p:nvGrpSpPr>
        <p:grpSpPr>
          <a:xfrm>
            <a:off x="14031548" y="12251"/>
            <a:ext cx="3480018" cy="6840051"/>
            <a:chOff x="0" y="-38100"/>
            <a:chExt cx="916542" cy="1801483"/>
          </a:xfrm>
        </p:grpSpPr>
        <p:sp>
          <p:nvSpPr>
            <p:cNvPr id="121" name="Google Shape;121;p2"/>
            <p:cNvSpPr/>
            <p:nvPr/>
          </p:nvSpPr>
          <p:spPr>
            <a:xfrm>
              <a:off x="0" y="0"/>
              <a:ext cx="916542" cy="1763382"/>
            </a:xfrm>
            <a:custGeom>
              <a:rect b="b" l="l" r="r" t="t"/>
              <a:pathLst>
                <a:path extrusionOk="0" h="1763382" w="916542">
                  <a:moveTo>
                    <a:pt x="0" y="0"/>
                  </a:moveTo>
                  <a:lnTo>
                    <a:pt x="916542" y="0"/>
                  </a:lnTo>
                  <a:lnTo>
                    <a:pt x="916542" y="1763382"/>
                  </a:lnTo>
                  <a:lnTo>
                    <a:pt x="0" y="1763382"/>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2"/>
            <p:cNvSpPr txBox="1"/>
            <p:nvPr/>
          </p:nvSpPr>
          <p:spPr>
            <a:xfrm>
              <a:off x="0" y="-38100"/>
              <a:ext cx="916542" cy="1801483"/>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3" name="Google Shape;123;p2"/>
          <p:cNvGrpSpPr/>
          <p:nvPr/>
        </p:nvGrpSpPr>
        <p:grpSpPr>
          <a:xfrm>
            <a:off x="6145398" y="3830079"/>
            <a:ext cx="7613660" cy="7613660"/>
            <a:chOff x="0" y="0"/>
            <a:chExt cx="812800" cy="812800"/>
          </a:xfrm>
        </p:grpSpPr>
        <p:sp>
          <p:nvSpPr>
            <p:cNvPr id="124" name="Google Shape;12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6" name="Google Shape;126;p2"/>
          <p:cNvGrpSpPr/>
          <p:nvPr/>
        </p:nvGrpSpPr>
        <p:grpSpPr>
          <a:xfrm>
            <a:off x="9952228" y="708385"/>
            <a:ext cx="6409551" cy="9129897"/>
            <a:chOff x="0" y="-38100"/>
            <a:chExt cx="1688101" cy="2404566"/>
          </a:xfrm>
        </p:grpSpPr>
        <p:sp>
          <p:nvSpPr>
            <p:cNvPr id="127" name="Google Shape;127;p2"/>
            <p:cNvSpPr/>
            <p:nvPr/>
          </p:nvSpPr>
          <p:spPr>
            <a:xfrm>
              <a:off x="0" y="0"/>
              <a:ext cx="1688101" cy="2366466"/>
            </a:xfrm>
            <a:custGeom>
              <a:rect b="b" l="l" r="r" t="t"/>
              <a:pathLst>
                <a:path extrusionOk="0" h="2366466" w="1688101">
                  <a:moveTo>
                    <a:pt x="0" y="0"/>
                  </a:moveTo>
                  <a:lnTo>
                    <a:pt x="1688101" y="0"/>
                  </a:lnTo>
                  <a:lnTo>
                    <a:pt x="1688101" y="2366466"/>
                  </a:lnTo>
                  <a:lnTo>
                    <a:pt x="0" y="2366466"/>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2"/>
            <p:cNvSpPr txBox="1"/>
            <p:nvPr/>
          </p:nvSpPr>
          <p:spPr>
            <a:xfrm>
              <a:off x="0" y="-38100"/>
              <a:ext cx="1688101" cy="2404566"/>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9" name="Google Shape;129;p2"/>
          <p:cNvGrpSpPr/>
          <p:nvPr/>
        </p:nvGrpSpPr>
        <p:grpSpPr>
          <a:xfrm>
            <a:off x="10754698" y="1279317"/>
            <a:ext cx="709005" cy="709005"/>
            <a:chOff x="0" y="0"/>
            <a:chExt cx="812800" cy="812800"/>
          </a:xfrm>
        </p:grpSpPr>
        <p:sp>
          <p:nvSpPr>
            <p:cNvPr id="130" name="Google Shape;130;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1</a:t>
              </a:r>
              <a:endParaRPr/>
            </a:p>
          </p:txBody>
        </p:sp>
      </p:grpSp>
      <p:grpSp>
        <p:nvGrpSpPr>
          <p:cNvPr id="132" name="Google Shape;132;p2"/>
          <p:cNvGrpSpPr/>
          <p:nvPr/>
        </p:nvGrpSpPr>
        <p:grpSpPr>
          <a:xfrm>
            <a:off x="10754698" y="2235296"/>
            <a:ext cx="709005" cy="709005"/>
            <a:chOff x="0" y="0"/>
            <a:chExt cx="812800" cy="812800"/>
          </a:xfrm>
        </p:grpSpPr>
        <p:sp>
          <p:nvSpPr>
            <p:cNvPr id="133" name="Google Shape;133;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2</a:t>
              </a:r>
              <a:endParaRPr/>
            </a:p>
          </p:txBody>
        </p:sp>
      </p:grpSp>
      <p:grpSp>
        <p:nvGrpSpPr>
          <p:cNvPr id="135" name="Google Shape;135;p2"/>
          <p:cNvGrpSpPr/>
          <p:nvPr/>
        </p:nvGrpSpPr>
        <p:grpSpPr>
          <a:xfrm>
            <a:off x="10754698" y="3191976"/>
            <a:ext cx="709005" cy="709005"/>
            <a:chOff x="0" y="0"/>
            <a:chExt cx="812800" cy="812800"/>
          </a:xfrm>
        </p:grpSpPr>
        <p:sp>
          <p:nvSpPr>
            <p:cNvPr id="136" name="Google Shape;136;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3</a:t>
              </a:r>
              <a:endParaRPr/>
            </a:p>
          </p:txBody>
        </p:sp>
      </p:grpSp>
      <p:grpSp>
        <p:nvGrpSpPr>
          <p:cNvPr id="138" name="Google Shape;138;p2"/>
          <p:cNvGrpSpPr/>
          <p:nvPr/>
        </p:nvGrpSpPr>
        <p:grpSpPr>
          <a:xfrm>
            <a:off x="10754698" y="4148657"/>
            <a:ext cx="709005" cy="709005"/>
            <a:chOff x="0" y="0"/>
            <a:chExt cx="812800" cy="812800"/>
          </a:xfrm>
        </p:grpSpPr>
        <p:sp>
          <p:nvSpPr>
            <p:cNvPr id="139" name="Google Shape;139;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4</a:t>
              </a:r>
              <a:endParaRPr/>
            </a:p>
          </p:txBody>
        </p:sp>
      </p:grpSp>
      <p:grpSp>
        <p:nvGrpSpPr>
          <p:cNvPr id="141" name="Google Shape;141;p2"/>
          <p:cNvGrpSpPr/>
          <p:nvPr/>
        </p:nvGrpSpPr>
        <p:grpSpPr>
          <a:xfrm>
            <a:off x="10754698" y="5105336"/>
            <a:ext cx="709005" cy="709005"/>
            <a:chOff x="0" y="0"/>
            <a:chExt cx="812800" cy="812800"/>
          </a:xfrm>
        </p:grpSpPr>
        <p:sp>
          <p:nvSpPr>
            <p:cNvPr id="142" name="Google Shape;14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5</a:t>
              </a:r>
              <a:endParaRPr/>
            </a:p>
          </p:txBody>
        </p:sp>
      </p:grpSp>
      <p:grpSp>
        <p:nvGrpSpPr>
          <p:cNvPr id="144" name="Google Shape;144;p2"/>
          <p:cNvGrpSpPr/>
          <p:nvPr/>
        </p:nvGrpSpPr>
        <p:grpSpPr>
          <a:xfrm>
            <a:off x="10754698" y="6062016"/>
            <a:ext cx="709005" cy="709005"/>
            <a:chOff x="0" y="0"/>
            <a:chExt cx="812800" cy="812800"/>
          </a:xfrm>
        </p:grpSpPr>
        <p:sp>
          <p:nvSpPr>
            <p:cNvPr id="145" name="Google Shape;14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6</a:t>
              </a:r>
              <a:endParaRPr/>
            </a:p>
          </p:txBody>
        </p:sp>
      </p:grpSp>
      <p:sp>
        <p:nvSpPr>
          <p:cNvPr id="147" name="Google Shape;147;p2"/>
          <p:cNvSpPr/>
          <p:nvPr/>
        </p:nvSpPr>
        <p:spPr>
          <a:xfrm>
            <a:off x="1028700" y="7053599"/>
            <a:ext cx="7159730" cy="833132"/>
          </a:xfrm>
          <a:custGeom>
            <a:rect b="b" l="l" r="r" t="t"/>
            <a:pathLst>
              <a:path extrusionOk="0" h="833132" w="7159730">
                <a:moveTo>
                  <a:pt x="0" y="0"/>
                </a:moveTo>
                <a:lnTo>
                  <a:pt x="7159730" y="0"/>
                </a:lnTo>
                <a:lnTo>
                  <a:pt x="7159730" y="833132"/>
                </a:lnTo>
                <a:lnTo>
                  <a:pt x="0" y="83313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2"/>
          <p:cNvSpPr/>
          <p:nvPr/>
        </p:nvSpPr>
        <p:spPr>
          <a:xfrm rot="-5400000">
            <a:off x="1687106" y="4949966"/>
            <a:ext cx="239244" cy="1556056"/>
          </a:xfrm>
          <a:custGeom>
            <a:rect b="b" l="l" r="r" t="t"/>
            <a:pathLst>
              <a:path extrusionOk="0" h="1556056" w="239244">
                <a:moveTo>
                  <a:pt x="0" y="0"/>
                </a:moveTo>
                <a:lnTo>
                  <a:pt x="239244" y="0"/>
                </a:lnTo>
                <a:lnTo>
                  <a:pt x="239244" y="1556056"/>
                </a:lnTo>
                <a:lnTo>
                  <a:pt x="0" y="1556056"/>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2"/>
          <p:cNvSpPr txBox="1"/>
          <p:nvPr/>
        </p:nvSpPr>
        <p:spPr>
          <a:xfrm>
            <a:off x="630626" y="1467389"/>
            <a:ext cx="8783073" cy="1394455"/>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lang="en-US" sz="8999">
                <a:solidFill>
                  <a:srgbClr val="000000"/>
                </a:solidFill>
                <a:latin typeface="Impact"/>
                <a:ea typeface="Impact"/>
                <a:cs typeface="Impact"/>
                <a:sym typeface="Impact"/>
              </a:rPr>
              <a:t>TABLA DE CONTENIDOS</a:t>
            </a:r>
            <a:endParaRPr/>
          </a:p>
        </p:txBody>
      </p:sp>
      <p:sp>
        <p:nvSpPr>
          <p:cNvPr id="150" name="Google Shape;150;p2"/>
          <p:cNvSpPr txBox="1"/>
          <p:nvPr/>
        </p:nvSpPr>
        <p:spPr>
          <a:xfrm>
            <a:off x="963906" y="3946256"/>
            <a:ext cx="4929247" cy="1308098"/>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2500">
                <a:solidFill>
                  <a:srgbClr val="000000"/>
                </a:solidFill>
                <a:latin typeface="Inter"/>
                <a:ea typeface="Inter"/>
                <a:cs typeface="Inter"/>
                <a:sym typeface="Inter"/>
              </a:rPr>
              <a:t>Para la siguiente presentación se consideran los siguientes contenidos.</a:t>
            </a:r>
            <a:endParaRPr/>
          </a:p>
        </p:txBody>
      </p:sp>
      <p:sp>
        <p:nvSpPr>
          <p:cNvPr id="151" name="Google Shape;151;p2"/>
          <p:cNvSpPr txBox="1"/>
          <p:nvPr/>
        </p:nvSpPr>
        <p:spPr>
          <a:xfrm>
            <a:off x="11795668" y="1407138"/>
            <a:ext cx="3538200" cy="519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Introducción</a:t>
            </a:r>
            <a:endParaRPr/>
          </a:p>
        </p:txBody>
      </p:sp>
      <p:sp>
        <p:nvSpPr>
          <p:cNvPr id="152" name="Google Shape;152;p2"/>
          <p:cNvSpPr txBox="1"/>
          <p:nvPr/>
        </p:nvSpPr>
        <p:spPr>
          <a:xfrm>
            <a:off x="11795668" y="2363117"/>
            <a:ext cx="3538200" cy="519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Modelo de Datos</a:t>
            </a:r>
            <a:endParaRPr/>
          </a:p>
        </p:txBody>
      </p:sp>
      <p:sp>
        <p:nvSpPr>
          <p:cNvPr id="153" name="Google Shape;153;p2"/>
          <p:cNvSpPr txBox="1"/>
          <p:nvPr/>
        </p:nvSpPr>
        <p:spPr>
          <a:xfrm>
            <a:off x="11795668" y="5202971"/>
            <a:ext cx="3538200" cy="519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Árbol de Navegación </a:t>
            </a:r>
            <a:endParaRPr/>
          </a:p>
        </p:txBody>
      </p:sp>
      <p:sp>
        <p:nvSpPr>
          <p:cNvPr id="154" name="Google Shape;154;p2"/>
          <p:cNvSpPr txBox="1"/>
          <p:nvPr/>
        </p:nvSpPr>
        <p:spPr>
          <a:xfrm>
            <a:off x="11721097" y="3300824"/>
            <a:ext cx="4175100" cy="519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Diagrama de Componentes</a:t>
            </a:r>
            <a:endParaRPr/>
          </a:p>
        </p:txBody>
      </p:sp>
      <p:sp>
        <p:nvSpPr>
          <p:cNvPr id="155" name="Google Shape;155;p2"/>
          <p:cNvSpPr txBox="1"/>
          <p:nvPr/>
        </p:nvSpPr>
        <p:spPr>
          <a:xfrm>
            <a:off x="11795668" y="6129464"/>
            <a:ext cx="3538200" cy="1038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Requerimiento 2</a:t>
            </a:r>
            <a:endParaRPr/>
          </a:p>
          <a:p>
            <a:pPr indent="0" lvl="0" marL="0" marR="0" rtl="0" algn="just">
              <a:lnSpc>
                <a:spcPct val="140000"/>
              </a:lnSpc>
              <a:spcBef>
                <a:spcPts val="0"/>
              </a:spcBef>
              <a:spcAft>
                <a:spcPts val="0"/>
              </a:spcAft>
              <a:buNone/>
            </a:pPr>
            <a:r>
              <a:t/>
            </a:r>
            <a:endParaRPr b="1" sz="2400">
              <a:solidFill>
                <a:srgbClr val="FFFFFF"/>
              </a:solidFill>
              <a:latin typeface="Inter"/>
              <a:ea typeface="Inter"/>
              <a:cs typeface="Inter"/>
              <a:sym typeface="Inter"/>
            </a:endParaRPr>
          </a:p>
        </p:txBody>
      </p:sp>
      <p:sp>
        <p:nvSpPr>
          <p:cNvPr id="156" name="Google Shape;156;p2"/>
          <p:cNvSpPr txBox="1"/>
          <p:nvPr/>
        </p:nvSpPr>
        <p:spPr>
          <a:xfrm>
            <a:off x="11795668" y="7146518"/>
            <a:ext cx="3538200" cy="519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Requerimiento 19</a:t>
            </a:r>
            <a:endParaRPr/>
          </a:p>
        </p:txBody>
      </p:sp>
      <p:grpSp>
        <p:nvGrpSpPr>
          <p:cNvPr id="157" name="Google Shape;157;p2"/>
          <p:cNvGrpSpPr/>
          <p:nvPr/>
        </p:nvGrpSpPr>
        <p:grpSpPr>
          <a:xfrm>
            <a:off x="10754698" y="7018697"/>
            <a:ext cx="709005" cy="709005"/>
            <a:chOff x="0" y="0"/>
            <a:chExt cx="812800" cy="812800"/>
          </a:xfrm>
        </p:grpSpPr>
        <p:sp>
          <p:nvSpPr>
            <p:cNvPr id="158" name="Google Shape;158;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7</a:t>
              </a:r>
              <a:endParaRPr/>
            </a:p>
          </p:txBody>
        </p:sp>
      </p:grpSp>
      <p:sp>
        <p:nvSpPr>
          <p:cNvPr id="160" name="Google Shape;160;p2"/>
          <p:cNvSpPr txBox="1"/>
          <p:nvPr/>
        </p:nvSpPr>
        <p:spPr>
          <a:xfrm>
            <a:off x="11795668" y="8100551"/>
            <a:ext cx="3538200" cy="519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Demostración </a:t>
            </a:r>
            <a:endParaRPr/>
          </a:p>
        </p:txBody>
      </p:sp>
      <p:grpSp>
        <p:nvGrpSpPr>
          <p:cNvPr id="161" name="Google Shape;161;p2"/>
          <p:cNvGrpSpPr/>
          <p:nvPr/>
        </p:nvGrpSpPr>
        <p:grpSpPr>
          <a:xfrm>
            <a:off x="10754698" y="7975377"/>
            <a:ext cx="709005" cy="709005"/>
            <a:chOff x="0" y="0"/>
            <a:chExt cx="812800" cy="812800"/>
          </a:xfrm>
        </p:grpSpPr>
        <p:sp>
          <p:nvSpPr>
            <p:cNvPr id="162" name="Google Shape;16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8</a:t>
              </a:r>
              <a:endParaRPr/>
            </a:p>
          </p:txBody>
        </p:sp>
      </p:grpSp>
      <p:sp>
        <p:nvSpPr>
          <p:cNvPr id="164" name="Google Shape;164;p2"/>
          <p:cNvSpPr txBox="1"/>
          <p:nvPr/>
        </p:nvSpPr>
        <p:spPr>
          <a:xfrm>
            <a:off x="11721097" y="4276478"/>
            <a:ext cx="3834600" cy="519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Diagrama de Despliegue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172" name="Shape 172"/>
        <p:cNvGrpSpPr/>
        <p:nvPr/>
      </p:nvGrpSpPr>
      <p:grpSpPr>
        <a:xfrm>
          <a:off x="0" y="0"/>
          <a:ext cx="0" cy="0"/>
          <a:chOff x="0" y="0"/>
          <a:chExt cx="0" cy="0"/>
        </a:xfrm>
      </p:grpSpPr>
      <p:grpSp>
        <p:nvGrpSpPr>
          <p:cNvPr id="173" name="Google Shape;173;p3"/>
          <p:cNvGrpSpPr/>
          <p:nvPr/>
        </p:nvGrpSpPr>
        <p:grpSpPr>
          <a:xfrm>
            <a:off x="-2822684" y="6496485"/>
            <a:ext cx="7613660" cy="7613660"/>
            <a:chOff x="0" y="0"/>
            <a:chExt cx="812800" cy="812800"/>
          </a:xfrm>
        </p:grpSpPr>
        <p:sp>
          <p:nvSpPr>
            <p:cNvPr id="174" name="Google Shape;174;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76" name="Google Shape;176;p3"/>
          <p:cNvGrpSpPr/>
          <p:nvPr/>
        </p:nvGrpSpPr>
        <p:grpSpPr>
          <a:xfrm>
            <a:off x="1028700" y="7334067"/>
            <a:ext cx="16230600" cy="2253712"/>
            <a:chOff x="0" y="-38100"/>
            <a:chExt cx="4274726" cy="593570"/>
          </a:xfrm>
        </p:grpSpPr>
        <p:sp>
          <p:nvSpPr>
            <p:cNvPr id="177" name="Google Shape;177;p3"/>
            <p:cNvSpPr/>
            <p:nvPr/>
          </p:nvSpPr>
          <p:spPr>
            <a:xfrm>
              <a:off x="0" y="0"/>
              <a:ext cx="4274726" cy="555470"/>
            </a:xfrm>
            <a:custGeom>
              <a:rect b="b" l="l" r="r" t="t"/>
              <a:pathLst>
                <a:path extrusionOk="0" h="555470" w="4274726">
                  <a:moveTo>
                    <a:pt x="0" y="0"/>
                  </a:moveTo>
                  <a:lnTo>
                    <a:pt x="4274726" y="0"/>
                  </a:lnTo>
                  <a:lnTo>
                    <a:pt x="4274726" y="555470"/>
                  </a:lnTo>
                  <a:lnTo>
                    <a:pt x="0" y="555470"/>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3"/>
            <p:cNvSpPr txBox="1"/>
            <p:nvPr/>
          </p:nvSpPr>
          <p:spPr>
            <a:xfrm>
              <a:off x="0" y="-38100"/>
              <a:ext cx="4274726" cy="59357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9" name="Google Shape;179;p3"/>
          <p:cNvSpPr/>
          <p:nvPr/>
        </p:nvSpPr>
        <p:spPr>
          <a:xfrm rot="-5400000">
            <a:off x="1589307" y="-385887"/>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0" name="Google Shape;180;p3"/>
          <p:cNvGrpSpPr/>
          <p:nvPr/>
        </p:nvGrpSpPr>
        <p:grpSpPr>
          <a:xfrm>
            <a:off x="2060387" y="6514223"/>
            <a:ext cx="4381697" cy="2357268"/>
            <a:chOff x="0" y="-38100"/>
            <a:chExt cx="1154027" cy="620844"/>
          </a:xfrm>
        </p:grpSpPr>
        <p:sp>
          <p:nvSpPr>
            <p:cNvPr id="181" name="Google Shape;181;p3"/>
            <p:cNvSpPr/>
            <p:nvPr/>
          </p:nvSpPr>
          <p:spPr>
            <a:xfrm>
              <a:off x="0" y="0"/>
              <a:ext cx="1154027" cy="582744"/>
            </a:xfrm>
            <a:custGeom>
              <a:rect b="b" l="l" r="r" t="t"/>
              <a:pathLst>
                <a:path extrusionOk="0" h="582744" w="1154027">
                  <a:moveTo>
                    <a:pt x="0" y="0"/>
                  </a:moveTo>
                  <a:lnTo>
                    <a:pt x="1154027" y="0"/>
                  </a:lnTo>
                  <a:lnTo>
                    <a:pt x="1154027" y="582744"/>
                  </a:lnTo>
                  <a:lnTo>
                    <a:pt x="0" y="582744"/>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3"/>
            <p:cNvSpPr txBox="1"/>
            <p:nvPr/>
          </p:nvSpPr>
          <p:spPr>
            <a:xfrm>
              <a:off x="0" y="-38100"/>
              <a:ext cx="1154027" cy="62084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3" name="Google Shape;183;p3"/>
          <p:cNvGrpSpPr/>
          <p:nvPr/>
        </p:nvGrpSpPr>
        <p:grpSpPr>
          <a:xfrm>
            <a:off x="6953152" y="6514223"/>
            <a:ext cx="4381697" cy="2357268"/>
            <a:chOff x="0" y="-38100"/>
            <a:chExt cx="1154027" cy="620844"/>
          </a:xfrm>
        </p:grpSpPr>
        <p:sp>
          <p:nvSpPr>
            <p:cNvPr id="184" name="Google Shape;184;p3"/>
            <p:cNvSpPr/>
            <p:nvPr/>
          </p:nvSpPr>
          <p:spPr>
            <a:xfrm>
              <a:off x="0" y="0"/>
              <a:ext cx="1154027" cy="582744"/>
            </a:xfrm>
            <a:custGeom>
              <a:rect b="b" l="l" r="r" t="t"/>
              <a:pathLst>
                <a:path extrusionOk="0" h="582744" w="1154027">
                  <a:moveTo>
                    <a:pt x="0" y="0"/>
                  </a:moveTo>
                  <a:lnTo>
                    <a:pt x="1154027" y="0"/>
                  </a:lnTo>
                  <a:lnTo>
                    <a:pt x="1154027" y="582744"/>
                  </a:lnTo>
                  <a:lnTo>
                    <a:pt x="0" y="582744"/>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3"/>
            <p:cNvSpPr txBox="1"/>
            <p:nvPr/>
          </p:nvSpPr>
          <p:spPr>
            <a:xfrm>
              <a:off x="0" y="-38100"/>
              <a:ext cx="1154027" cy="62084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6" name="Google Shape;186;p3"/>
          <p:cNvGrpSpPr/>
          <p:nvPr/>
        </p:nvGrpSpPr>
        <p:grpSpPr>
          <a:xfrm>
            <a:off x="11849198" y="6514223"/>
            <a:ext cx="4381697" cy="2357268"/>
            <a:chOff x="0" y="-38100"/>
            <a:chExt cx="1154027" cy="620844"/>
          </a:xfrm>
        </p:grpSpPr>
        <p:sp>
          <p:nvSpPr>
            <p:cNvPr id="187" name="Google Shape;187;p3"/>
            <p:cNvSpPr/>
            <p:nvPr/>
          </p:nvSpPr>
          <p:spPr>
            <a:xfrm>
              <a:off x="0" y="0"/>
              <a:ext cx="1154027" cy="582744"/>
            </a:xfrm>
            <a:custGeom>
              <a:rect b="b" l="l" r="r" t="t"/>
              <a:pathLst>
                <a:path extrusionOk="0" h="582744" w="1154027">
                  <a:moveTo>
                    <a:pt x="0" y="0"/>
                  </a:moveTo>
                  <a:lnTo>
                    <a:pt x="1154027" y="0"/>
                  </a:lnTo>
                  <a:lnTo>
                    <a:pt x="1154027" y="582744"/>
                  </a:lnTo>
                  <a:lnTo>
                    <a:pt x="0" y="582744"/>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3"/>
            <p:cNvSpPr txBox="1"/>
            <p:nvPr/>
          </p:nvSpPr>
          <p:spPr>
            <a:xfrm>
              <a:off x="0" y="-38100"/>
              <a:ext cx="1154027" cy="62084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9" name="Google Shape;189;p3"/>
          <p:cNvSpPr/>
          <p:nvPr/>
        </p:nvSpPr>
        <p:spPr>
          <a:xfrm rot="5400000">
            <a:off x="4067069" y="6943027"/>
            <a:ext cx="368333" cy="550670"/>
          </a:xfrm>
          <a:custGeom>
            <a:rect b="b" l="l" r="r" t="t"/>
            <a:pathLst>
              <a:path extrusionOk="0" h="550670" w="368333">
                <a:moveTo>
                  <a:pt x="0" y="0"/>
                </a:moveTo>
                <a:lnTo>
                  <a:pt x="368333" y="0"/>
                </a:lnTo>
                <a:lnTo>
                  <a:pt x="368333" y="550670"/>
                </a:lnTo>
                <a:lnTo>
                  <a:pt x="0" y="55067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3"/>
          <p:cNvSpPr/>
          <p:nvPr/>
        </p:nvSpPr>
        <p:spPr>
          <a:xfrm rot="5400000">
            <a:off x="8959833" y="6943027"/>
            <a:ext cx="368333" cy="550670"/>
          </a:xfrm>
          <a:custGeom>
            <a:rect b="b" l="l" r="r" t="t"/>
            <a:pathLst>
              <a:path extrusionOk="0" h="550670" w="368333">
                <a:moveTo>
                  <a:pt x="0" y="0"/>
                </a:moveTo>
                <a:lnTo>
                  <a:pt x="368334" y="0"/>
                </a:lnTo>
                <a:lnTo>
                  <a:pt x="368334" y="550670"/>
                </a:lnTo>
                <a:lnTo>
                  <a:pt x="0" y="55067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3"/>
          <p:cNvSpPr/>
          <p:nvPr/>
        </p:nvSpPr>
        <p:spPr>
          <a:xfrm rot="5400000">
            <a:off x="13852598" y="6943027"/>
            <a:ext cx="368333" cy="550670"/>
          </a:xfrm>
          <a:custGeom>
            <a:rect b="b" l="l" r="r" t="t"/>
            <a:pathLst>
              <a:path extrusionOk="0" h="550670" w="368333">
                <a:moveTo>
                  <a:pt x="0" y="0"/>
                </a:moveTo>
                <a:lnTo>
                  <a:pt x="368333" y="0"/>
                </a:lnTo>
                <a:lnTo>
                  <a:pt x="368333" y="550670"/>
                </a:lnTo>
                <a:lnTo>
                  <a:pt x="0" y="55067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92" name="Google Shape;192;p3"/>
          <p:cNvGrpSpPr/>
          <p:nvPr/>
        </p:nvGrpSpPr>
        <p:grpSpPr>
          <a:xfrm>
            <a:off x="15073715" y="-3065569"/>
            <a:ext cx="7613660" cy="7613660"/>
            <a:chOff x="0" y="0"/>
            <a:chExt cx="812800" cy="812800"/>
          </a:xfrm>
        </p:grpSpPr>
        <p:sp>
          <p:nvSpPr>
            <p:cNvPr id="193" name="Google Shape;193;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5" name="Google Shape;195;p3"/>
          <p:cNvSpPr txBox="1"/>
          <p:nvPr/>
        </p:nvSpPr>
        <p:spPr>
          <a:xfrm>
            <a:off x="1028700" y="521169"/>
            <a:ext cx="8269466" cy="1338833"/>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8099">
                <a:solidFill>
                  <a:srgbClr val="000000"/>
                </a:solidFill>
                <a:latin typeface="Impact"/>
                <a:ea typeface="Impact"/>
                <a:cs typeface="Impact"/>
                <a:sym typeface="Impact"/>
              </a:rPr>
              <a:t>INTRODUCCIÓN </a:t>
            </a:r>
            <a:endParaRPr/>
          </a:p>
        </p:txBody>
      </p:sp>
      <p:sp>
        <p:nvSpPr>
          <p:cNvPr id="196" name="Google Shape;196;p3"/>
          <p:cNvSpPr txBox="1"/>
          <p:nvPr/>
        </p:nvSpPr>
        <p:spPr>
          <a:xfrm>
            <a:off x="1028700" y="1802852"/>
            <a:ext cx="8115300" cy="880834"/>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500">
                <a:solidFill>
                  <a:srgbClr val="545454"/>
                </a:solidFill>
                <a:latin typeface="Inter Medium"/>
                <a:ea typeface="Inter Medium"/>
                <a:cs typeface="Inter Medium"/>
                <a:sym typeface="Inter Medium"/>
              </a:rPr>
              <a:t>Para este incremento se consideran los siguientes datos.</a:t>
            </a:r>
            <a:endParaRPr/>
          </a:p>
        </p:txBody>
      </p:sp>
      <p:sp>
        <p:nvSpPr>
          <p:cNvPr id="197" name="Google Shape;197;p3"/>
          <p:cNvSpPr txBox="1"/>
          <p:nvPr/>
        </p:nvSpPr>
        <p:spPr>
          <a:xfrm>
            <a:off x="2679449" y="7402528"/>
            <a:ext cx="3143573" cy="88899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CANTIDAD REQUERIMIENTOS</a:t>
            </a:r>
            <a:endParaRPr/>
          </a:p>
        </p:txBody>
      </p:sp>
      <p:sp>
        <p:nvSpPr>
          <p:cNvPr id="198" name="Google Shape;198;p3"/>
          <p:cNvSpPr txBox="1"/>
          <p:nvPr/>
        </p:nvSpPr>
        <p:spPr>
          <a:xfrm>
            <a:off x="2472946" y="8314815"/>
            <a:ext cx="3556281" cy="38925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300">
                <a:solidFill>
                  <a:srgbClr val="D9D9D9"/>
                </a:solidFill>
                <a:latin typeface="Inter Medium"/>
                <a:ea typeface="Inter Medium"/>
                <a:cs typeface="Inter Medium"/>
                <a:sym typeface="Inter Medium"/>
              </a:rPr>
              <a:t>23</a:t>
            </a:r>
            <a:endParaRPr/>
          </a:p>
        </p:txBody>
      </p:sp>
      <p:sp>
        <p:nvSpPr>
          <p:cNvPr id="199" name="Google Shape;199;p3"/>
          <p:cNvSpPr txBox="1"/>
          <p:nvPr/>
        </p:nvSpPr>
        <p:spPr>
          <a:xfrm>
            <a:off x="7778568" y="7402528"/>
            <a:ext cx="2730865" cy="88899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PORCENTAJE DE AVANCE</a:t>
            </a:r>
            <a:endParaRPr/>
          </a:p>
        </p:txBody>
      </p:sp>
      <p:sp>
        <p:nvSpPr>
          <p:cNvPr id="200" name="Google Shape;200;p3"/>
          <p:cNvSpPr txBox="1"/>
          <p:nvPr/>
        </p:nvSpPr>
        <p:spPr>
          <a:xfrm>
            <a:off x="7365860" y="8243902"/>
            <a:ext cx="3556281" cy="38925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300">
                <a:solidFill>
                  <a:srgbClr val="D9D9D9"/>
                </a:solidFill>
                <a:latin typeface="Inter Medium"/>
                <a:ea typeface="Inter Medium"/>
                <a:cs typeface="Inter Medium"/>
                <a:sym typeface="Inter Medium"/>
              </a:rPr>
              <a:t>~32%</a:t>
            </a:r>
            <a:endParaRPr/>
          </a:p>
        </p:txBody>
      </p:sp>
      <p:sp>
        <p:nvSpPr>
          <p:cNvPr id="201" name="Google Shape;201;p3"/>
          <p:cNvSpPr txBox="1"/>
          <p:nvPr/>
        </p:nvSpPr>
        <p:spPr>
          <a:xfrm>
            <a:off x="12671332" y="7402528"/>
            <a:ext cx="2730865" cy="88899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SIGUIENTE ENTREGA</a:t>
            </a:r>
            <a:endParaRPr/>
          </a:p>
        </p:txBody>
      </p:sp>
      <p:sp>
        <p:nvSpPr>
          <p:cNvPr id="202" name="Google Shape;202;p3"/>
          <p:cNvSpPr txBox="1"/>
          <p:nvPr/>
        </p:nvSpPr>
        <p:spPr>
          <a:xfrm>
            <a:off x="12258624" y="8314815"/>
            <a:ext cx="3556281" cy="38925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300">
                <a:solidFill>
                  <a:srgbClr val="D9D9D9"/>
                </a:solidFill>
                <a:latin typeface="Inter Medium"/>
                <a:ea typeface="Inter Medium"/>
                <a:cs typeface="Inter Medium"/>
                <a:sym typeface="Inter Medium"/>
              </a:rPr>
              <a:t>29 requerimientos ~72%</a:t>
            </a:r>
            <a:endParaRPr/>
          </a:p>
        </p:txBody>
      </p:sp>
      <p:graphicFrame>
        <p:nvGraphicFramePr>
          <p:cNvPr id="203" name="Google Shape;203;p3"/>
          <p:cNvGraphicFramePr/>
          <p:nvPr/>
        </p:nvGraphicFramePr>
        <p:xfrm>
          <a:off x="3718094" y="2445261"/>
          <a:ext cx="3000000" cy="3000000"/>
        </p:xfrm>
        <a:graphic>
          <a:graphicData uri="http://schemas.openxmlformats.org/drawingml/2006/table">
            <a:tbl>
              <a:tblPr>
                <a:noFill/>
                <a:tableStyleId>{30DCE7E7-3EC1-47B3-8F9D-C97859B80426}</a:tableStyleId>
              </a:tblPr>
              <a:tblGrid>
                <a:gridCol w="2575275"/>
                <a:gridCol w="2575275"/>
                <a:gridCol w="2575275"/>
                <a:gridCol w="2575275"/>
              </a:tblGrid>
              <a:tr h="687975">
                <a:tc>
                  <a:txBody>
                    <a:bodyPr/>
                    <a:lstStyle/>
                    <a:p>
                      <a:pPr indent="0" lvl="0" marL="0" marR="0" rtl="0" algn="l">
                        <a:lnSpc>
                          <a:spcPct val="120013"/>
                        </a:lnSpc>
                        <a:spcBef>
                          <a:spcPts val="0"/>
                        </a:spcBef>
                        <a:spcAft>
                          <a:spcPts val="0"/>
                        </a:spcAft>
                        <a:buNone/>
                      </a:pPr>
                      <a:r>
                        <a:rPr b="1" lang="en-US" sz="1464" u="none" cap="none" strike="noStrike">
                          <a:solidFill>
                            <a:srgbClr val="FFFFFF"/>
                          </a:solidFill>
                          <a:latin typeface="Open Sans"/>
                          <a:ea typeface="Open Sans"/>
                          <a:cs typeface="Open Sans"/>
                          <a:sym typeface="Open Sans"/>
                        </a:rPr>
                        <a:t>Incremento</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c>
                  <a:txBody>
                    <a:bodyPr/>
                    <a:lstStyle/>
                    <a:p>
                      <a:pPr indent="0" lvl="0" marL="0" marR="0" rtl="0" algn="l">
                        <a:lnSpc>
                          <a:spcPct val="120013"/>
                        </a:lnSpc>
                        <a:spcBef>
                          <a:spcPts val="0"/>
                        </a:spcBef>
                        <a:spcAft>
                          <a:spcPts val="0"/>
                        </a:spcAft>
                        <a:buNone/>
                      </a:pPr>
                      <a:r>
                        <a:rPr b="1" lang="en-US" sz="1464" u="none" cap="none" strike="noStrike">
                          <a:solidFill>
                            <a:srgbClr val="FFFFFF"/>
                          </a:solidFill>
                          <a:latin typeface="Open Sans"/>
                          <a:ea typeface="Open Sans"/>
                          <a:cs typeface="Open Sans"/>
                          <a:sym typeface="Open Sans"/>
                        </a:rPr>
                        <a:t>Descripción del Hito / Alcance</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c>
                  <a:txBody>
                    <a:bodyPr/>
                    <a:lstStyle/>
                    <a:p>
                      <a:pPr indent="0" lvl="0" marL="0" marR="0" rtl="0" algn="l">
                        <a:lnSpc>
                          <a:spcPct val="120013"/>
                        </a:lnSpc>
                        <a:spcBef>
                          <a:spcPts val="0"/>
                        </a:spcBef>
                        <a:spcAft>
                          <a:spcPts val="0"/>
                        </a:spcAft>
                        <a:buNone/>
                      </a:pPr>
                      <a:r>
                        <a:rPr b="1" lang="en-US" sz="1464" u="none" cap="none" strike="noStrike">
                          <a:solidFill>
                            <a:srgbClr val="FEFEFE"/>
                          </a:solidFill>
                          <a:latin typeface="Open Sans"/>
                          <a:ea typeface="Open Sans"/>
                          <a:cs typeface="Open Sans"/>
                          <a:sym typeface="Open Sans"/>
                        </a:rPr>
                        <a:t>Cantidad de RFs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c>
                  <a:txBody>
                    <a:bodyPr/>
                    <a:lstStyle/>
                    <a:p>
                      <a:pPr indent="0" lvl="0" marL="0" marR="0" rtl="0" algn="l">
                        <a:lnSpc>
                          <a:spcPct val="120013"/>
                        </a:lnSpc>
                        <a:spcBef>
                          <a:spcPts val="0"/>
                        </a:spcBef>
                        <a:spcAft>
                          <a:spcPts val="0"/>
                        </a:spcAft>
                        <a:buNone/>
                      </a:pPr>
                      <a:r>
                        <a:rPr b="1" lang="en-US" sz="1464" u="none" cap="none" strike="noStrike">
                          <a:solidFill>
                            <a:srgbClr val="FEFEFE"/>
                          </a:solidFill>
                          <a:latin typeface="Open Sans"/>
                          <a:ea typeface="Open Sans"/>
                          <a:cs typeface="Open Sans"/>
                          <a:sym typeface="Open Sans"/>
                        </a:rPr>
                        <a:t>% de Avance (Acumulado)</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r>
              <a:tr h="783525">
                <a:tc>
                  <a:txBody>
                    <a:bodyPr/>
                    <a:lstStyle/>
                    <a:p>
                      <a:pPr indent="0" lvl="0" marL="0" marR="0" rtl="0" algn="l">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Incremento 1</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c>
                  <a:txBody>
                    <a:bodyPr/>
                    <a:lstStyle/>
                    <a:p>
                      <a:pPr indent="0" lvl="0" marL="0" marR="0" rtl="0" algn="l">
                        <a:lnSpc>
                          <a:spcPct val="120000"/>
                        </a:lnSpc>
                        <a:spcBef>
                          <a:spcPts val="0"/>
                        </a:spcBef>
                        <a:spcAft>
                          <a:spcPts val="0"/>
                        </a:spcAft>
                        <a:buNone/>
                      </a:pPr>
                      <a:r>
                        <a:rPr b="1" lang="en-US" sz="1200" u="none" cap="none" strike="noStrike">
                          <a:solidFill>
                            <a:srgbClr val="1F1F1F"/>
                          </a:solidFill>
                          <a:latin typeface="Open Sans"/>
                          <a:ea typeface="Open Sans"/>
                          <a:cs typeface="Open Sans"/>
                          <a:sym typeface="Open Sans"/>
                        </a:rPr>
                        <a:t>Núcleo Comercial (MVP):</a:t>
                      </a:r>
                      <a:r>
                        <a:rPr lang="en-US" sz="1200" u="none" cap="none" strike="noStrike">
                          <a:solidFill>
                            <a:srgbClr val="1F1F1F"/>
                          </a:solidFill>
                          <a:latin typeface="Open Sans"/>
                          <a:ea typeface="Open Sans"/>
                          <a:cs typeface="Open Sans"/>
                          <a:sym typeface="Open Sans"/>
                        </a:rPr>
                        <a:t> Clientes, Cotizaciones y Nota de ventas.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c>
                  <a:txBody>
                    <a:bodyPr/>
                    <a:lstStyle/>
                    <a:p>
                      <a:pPr indent="0" lvl="0" marL="0" marR="0" rtl="0" algn="r">
                        <a:lnSpc>
                          <a:spcPct val="120013"/>
                        </a:lnSpc>
                        <a:spcBef>
                          <a:spcPts val="0"/>
                        </a:spcBef>
                        <a:spcAft>
                          <a:spcPts val="0"/>
                        </a:spcAft>
                        <a:buNone/>
                      </a:pPr>
                      <a:r>
                        <a:rPr lang="en-US" sz="1464" u="none" cap="none" strike="noStrike">
                          <a:solidFill>
                            <a:srgbClr val="1F1F1F"/>
                          </a:solidFill>
                          <a:latin typeface="Open Sans"/>
                          <a:ea typeface="Open Sans"/>
                          <a:cs typeface="Open Sans"/>
                          <a:sym typeface="Open Sans"/>
                        </a:rPr>
                        <a:t>23</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c>
                  <a:txBody>
                    <a:bodyPr/>
                    <a:lstStyle/>
                    <a:p>
                      <a:pPr indent="0" lvl="0" marL="0" marR="0" rtl="0" algn="r">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31,90%</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r>
              <a:tr h="965075">
                <a:tc>
                  <a:txBody>
                    <a:bodyPr/>
                    <a:lstStyle/>
                    <a:p>
                      <a:pPr indent="0" lvl="0" marL="0" marR="0" rtl="0" algn="l">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Incremento 2</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EFEFE"/>
                    </a:solidFill>
                  </a:tcPr>
                </a:tc>
                <a:tc>
                  <a:txBody>
                    <a:bodyPr/>
                    <a:lstStyle/>
                    <a:p>
                      <a:pPr indent="0" lvl="0" marL="0" marR="0" rtl="0" algn="l">
                        <a:lnSpc>
                          <a:spcPct val="120000"/>
                        </a:lnSpc>
                        <a:spcBef>
                          <a:spcPts val="0"/>
                        </a:spcBef>
                        <a:spcAft>
                          <a:spcPts val="0"/>
                        </a:spcAft>
                        <a:buNone/>
                      </a:pPr>
                      <a:r>
                        <a:rPr b="1" lang="en-US" sz="1200" u="none" cap="none" strike="noStrike">
                          <a:solidFill>
                            <a:srgbClr val="1F1F1F"/>
                          </a:solidFill>
                          <a:latin typeface="Open Sans"/>
                          <a:ea typeface="Open Sans"/>
                          <a:cs typeface="Open Sans"/>
                          <a:sym typeface="Open Sans"/>
                        </a:rPr>
                        <a:t>Tesorería y Flujo de Caja:</a:t>
                      </a:r>
                      <a:r>
                        <a:rPr lang="en-US" sz="1200" u="none" cap="none" strike="noStrike">
                          <a:solidFill>
                            <a:srgbClr val="1F1F1F"/>
                          </a:solidFill>
                          <a:latin typeface="Open Sans"/>
                          <a:ea typeface="Open Sans"/>
                          <a:cs typeface="Open Sans"/>
                          <a:sym typeface="Open Sans"/>
                        </a:rPr>
                        <a:t> Credito, Recaudación, Proveedores, Pagos y Conciliación.</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EFEFE"/>
                    </a:solidFill>
                  </a:tcPr>
                </a:tc>
                <a:tc>
                  <a:txBody>
                    <a:bodyPr/>
                    <a:lstStyle/>
                    <a:p>
                      <a:pPr indent="0" lvl="0" marL="0" marR="0" rtl="0" algn="r">
                        <a:lnSpc>
                          <a:spcPct val="120013"/>
                        </a:lnSpc>
                        <a:spcBef>
                          <a:spcPts val="0"/>
                        </a:spcBef>
                        <a:spcAft>
                          <a:spcPts val="0"/>
                        </a:spcAft>
                        <a:buNone/>
                      </a:pPr>
                      <a:r>
                        <a:rPr lang="en-US" sz="1464" u="none" cap="none" strike="noStrike">
                          <a:solidFill>
                            <a:srgbClr val="1F1F1F"/>
                          </a:solidFill>
                          <a:latin typeface="Open Sans"/>
                          <a:ea typeface="Open Sans"/>
                          <a:cs typeface="Open Sans"/>
                          <a:sym typeface="Open Sans"/>
                        </a:rPr>
                        <a:t>29</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EFEFE"/>
                    </a:solidFill>
                  </a:tcPr>
                </a:tc>
                <a:tc>
                  <a:txBody>
                    <a:bodyPr/>
                    <a:lstStyle/>
                    <a:p>
                      <a:pPr indent="0" lvl="0" marL="0" marR="0" rtl="0" algn="r">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72,20%</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83525">
                <a:tc>
                  <a:txBody>
                    <a:bodyPr/>
                    <a:lstStyle/>
                    <a:p>
                      <a:pPr indent="0" lvl="0" marL="0" marR="0" rtl="0" algn="l">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Incremento 3</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b="1" lang="en-US" sz="1200" u="none" cap="none" strike="noStrike">
                          <a:solidFill>
                            <a:srgbClr val="1F1F1F"/>
                          </a:solidFill>
                          <a:latin typeface="Open Sans"/>
                          <a:ea typeface="Open Sans"/>
                          <a:cs typeface="Open Sans"/>
                          <a:sym typeface="Open Sans"/>
                        </a:rPr>
                        <a:t>Operaciones y Rentabilidad:</a:t>
                      </a:r>
                      <a:r>
                        <a:rPr lang="en-US" sz="1200" u="none" cap="none" strike="noStrike">
                          <a:solidFill>
                            <a:srgbClr val="1F1F1F"/>
                          </a:solidFill>
                          <a:latin typeface="Open Sans"/>
                          <a:ea typeface="Open Sans"/>
                          <a:cs typeface="Open Sans"/>
                          <a:sym typeface="Open Sans"/>
                        </a:rPr>
                        <a:t> Sueldos, Bonos por Destajo y Dashboards Analíticos.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None/>
                      </a:pPr>
                      <a:r>
                        <a:rPr lang="en-US" sz="1464" u="none" cap="none" strike="noStrike">
                          <a:solidFill>
                            <a:srgbClr val="1F1F1F"/>
                          </a:solidFill>
                          <a:latin typeface="Open Sans"/>
                          <a:ea typeface="Open Sans"/>
                          <a:cs typeface="Open Sans"/>
                          <a:sym typeface="Open Sans"/>
                        </a:rPr>
                        <a:t>17</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95,83%</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83525">
                <a:tc>
                  <a:txBody>
                    <a:bodyPr/>
                    <a:lstStyle/>
                    <a:p>
                      <a:pPr indent="0" lvl="0" marL="0" marR="0" rtl="0" algn="l">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Incremento 4</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b="1" lang="en-US" sz="1200" u="none" cap="none" strike="noStrike">
                          <a:solidFill>
                            <a:srgbClr val="1F1F1F"/>
                          </a:solidFill>
                          <a:latin typeface="Open Sans"/>
                          <a:ea typeface="Open Sans"/>
                          <a:cs typeface="Open Sans"/>
                          <a:sym typeface="Open Sans"/>
                        </a:rPr>
                        <a:t>Auditoría y Seguridad:</a:t>
                      </a:r>
                      <a:r>
                        <a:rPr lang="en-US" sz="1200" u="none" cap="none" strike="noStrike">
                          <a:solidFill>
                            <a:srgbClr val="1F1F1F"/>
                          </a:solidFill>
                          <a:latin typeface="Open Sans"/>
                          <a:ea typeface="Open Sans"/>
                          <a:cs typeface="Open Sans"/>
                          <a:sym typeface="Open Sans"/>
                        </a:rPr>
                        <a:t> Roles de usuario, Bloqueos y Log de Auditoría.</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None/>
                      </a:pPr>
                      <a:r>
                        <a:rPr lang="en-US" sz="1464" u="none" cap="none" strike="noStrike">
                          <a:solidFill>
                            <a:srgbClr val="1F1F1F"/>
                          </a:solidFill>
                          <a:latin typeface="Open Sans"/>
                          <a:ea typeface="Open Sans"/>
                          <a:cs typeface="Open Sans"/>
                          <a:sym typeface="Open Sans"/>
                        </a:rPr>
                        <a:t>3</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100,00%</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11" name="Shape 211"/>
        <p:cNvGrpSpPr/>
        <p:nvPr/>
      </p:nvGrpSpPr>
      <p:grpSpPr>
        <a:xfrm>
          <a:off x="0" y="0"/>
          <a:ext cx="0" cy="0"/>
          <a:chOff x="0" y="0"/>
          <a:chExt cx="0" cy="0"/>
        </a:xfrm>
      </p:grpSpPr>
      <p:grpSp>
        <p:nvGrpSpPr>
          <p:cNvPr id="212" name="Google Shape;212;p4"/>
          <p:cNvGrpSpPr/>
          <p:nvPr/>
        </p:nvGrpSpPr>
        <p:grpSpPr>
          <a:xfrm>
            <a:off x="-3059651" y="-173897"/>
            <a:ext cx="7613660" cy="7613660"/>
            <a:chOff x="0" y="0"/>
            <a:chExt cx="812800" cy="812800"/>
          </a:xfrm>
        </p:grpSpPr>
        <p:sp>
          <p:nvSpPr>
            <p:cNvPr id="213" name="Google Shape;213;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5" name="Google Shape;215;p4"/>
          <p:cNvSpPr/>
          <p:nvPr/>
        </p:nvSpPr>
        <p:spPr>
          <a:xfrm>
            <a:off x="874722" y="7796583"/>
            <a:ext cx="6329677" cy="736544"/>
          </a:xfrm>
          <a:custGeom>
            <a:rect b="b" l="l" r="r" t="t"/>
            <a:pathLst>
              <a:path extrusionOk="0" h="736544" w="6329677">
                <a:moveTo>
                  <a:pt x="0" y="0"/>
                </a:moveTo>
                <a:lnTo>
                  <a:pt x="6329676" y="0"/>
                </a:lnTo>
                <a:lnTo>
                  <a:pt x="6329676" y="736544"/>
                </a:lnTo>
                <a:lnTo>
                  <a:pt x="0" y="73654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16" name="Google Shape;216;p4"/>
          <p:cNvGrpSpPr/>
          <p:nvPr/>
        </p:nvGrpSpPr>
        <p:grpSpPr>
          <a:xfrm>
            <a:off x="15811427" y="4570195"/>
            <a:ext cx="3531409" cy="3531409"/>
            <a:chOff x="0" y="0"/>
            <a:chExt cx="812800" cy="812800"/>
          </a:xfrm>
        </p:grpSpPr>
        <p:sp>
          <p:nvSpPr>
            <p:cNvPr id="217" name="Google Shape;217;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9" name="Google Shape;219;p4"/>
          <p:cNvSpPr/>
          <p:nvPr/>
        </p:nvSpPr>
        <p:spPr>
          <a:xfrm>
            <a:off x="321409" y="1028700"/>
            <a:ext cx="17645182" cy="6687187"/>
          </a:xfrm>
          <a:custGeom>
            <a:rect b="b" l="l" r="r" t="t"/>
            <a:pathLst>
              <a:path extrusionOk="0" h="6687187" w="17645182">
                <a:moveTo>
                  <a:pt x="0" y="0"/>
                </a:moveTo>
                <a:lnTo>
                  <a:pt x="17645182" y="0"/>
                </a:lnTo>
                <a:lnTo>
                  <a:pt x="17645182" y="6687187"/>
                </a:lnTo>
                <a:lnTo>
                  <a:pt x="0" y="668718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4"/>
          <p:cNvSpPr txBox="1"/>
          <p:nvPr/>
        </p:nvSpPr>
        <p:spPr>
          <a:xfrm>
            <a:off x="7391400" y="6567832"/>
            <a:ext cx="8292507" cy="2898229"/>
          </a:xfrm>
          <a:prstGeom prst="rect">
            <a:avLst/>
          </a:prstGeom>
          <a:noFill/>
          <a:ln>
            <a:noFill/>
          </a:ln>
        </p:spPr>
        <p:txBody>
          <a:bodyPr anchorCtr="0" anchor="t" bIns="0" lIns="0" spcFirstLastPara="1" rIns="0" wrap="square" tIns="0">
            <a:spAutoFit/>
          </a:bodyPr>
          <a:lstStyle/>
          <a:p>
            <a:pPr indent="0" lvl="0" marL="0" marR="0" rtl="0" algn="r">
              <a:lnSpc>
                <a:spcPct val="113001"/>
              </a:lnSpc>
              <a:spcBef>
                <a:spcPts val="0"/>
              </a:spcBef>
              <a:spcAft>
                <a:spcPts val="0"/>
              </a:spcAft>
              <a:buNone/>
            </a:pPr>
            <a:r>
              <a:rPr lang="en-US" sz="9999">
                <a:solidFill>
                  <a:srgbClr val="000000"/>
                </a:solidFill>
                <a:latin typeface="Impact"/>
                <a:ea typeface="Impact"/>
                <a:cs typeface="Impact"/>
                <a:sym typeface="Impact"/>
              </a:rPr>
              <a:t>DIAGRAMA DE COMPONENTES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28" name="Shape 228"/>
        <p:cNvGrpSpPr/>
        <p:nvPr/>
      </p:nvGrpSpPr>
      <p:grpSpPr>
        <a:xfrm>
          <a:off x="0" y="0"/>
          <a:ext cx="0" cy="0"/>
          <a:chOff x="0" y="0"/>
          <a:chExt cx="0" cy="0"/>
        </a:xfrm>
      </p:grpSpPr>
      <p:grpSp>
        <p:nvGrpSpPr>
          <p:cNvPr id="229" name="Google Shape;229;p5"/>
          <p:cNvGrpSpPr/>
          <p:nvPr/>
        </p:nvGrpSpPr>
        <p:grpSpPr>
          <a:xfrm>
            <a:off x="1031797" y="6462465"/>
            <a:ext cx="16230600" cy="3578159"/>
            <a:chOff x="0" y="-38100"/>
            <a:chExt cx="1732706" cy="381988"/>
          </a:xfrm>
        </p:grpSpPr>
        <p:sp>
          <p:nvSpPr>
            <p:cNvPr id="230" name="Google Shape;230;p5"/>
            <p:cNvSpPr/>
            <p:nvPr/>
          </p:nvSpPr>
          <p:spPr>
            <a:xfrm>
              <a:off x="0" y="0"/>
              <a:ext cx="1732705" cy="343888"/>
            </a:xfrm>
            <a:custGeom>
              <a:rect b="b" l="l" r="r" t="t"/>
              <a:pathLst>
                <a:path extrusionOk="0" h="343888" w="1732705">
                  <a:moveTo>
                    <a:pt x="0" y="0"/>
                  </a:moveTo>
                  <a:lnTo>
                    <a:pt x="1732705" y="0"/>
                  </a:lnTo>
                  <a:lnTo>
                    <a:pt x="1732705" y="343888"/>
                  </a:lnTo>
                  <a:lnTo>
                    <a:pt x="0" y="343888"/>
                  </a:ln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5"/>
            <p:cNvSpPr txBox="1"/>
            <p:nvPr/>
          </p:nvSpPr>
          <p:spPr>
            <a:xfrm>
              <a:off x="0" y="-38100"/>
              <a:ext cx="1732706" cy="381988"/>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2" name="Google Shape;232;p5"/>
          <p:cNvSpPr/>
          <p:nvPr/>
        </p:nvSpPr>
        <p:spPr>
          <a:xfrm>
            <a:off x="1028700" y="3106249"/>
            <a:ext cx="1597381" cy="537785"/>
          </a:xfrm>
          <a:custGeom>
            <a:rect b="b" l="l" r="r" t="t"/>
            <a:pathLst>
              <a:path extrusionOk="0" h="537785" w="1597381">
                <a:moveTo>
                  <a:pt x="0" y="0"/>
                </a:moveTo>
                <a:lnTo>
                  <a:pt x="1597381" y="0"/>
                </a:lnTo>
                <a:lnTo>
                  <a:pt x="1597381" y="537785"/>
                </a:lnTo>
                <a:lnTo>
                  <a:pt x="0" y="537785"/>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5"/>
          <p:cNvSpPr/>
          <p:nvPr/>
        </p:nvSpPr>
        <p:spPr>
          <a:xfrm>
            <a:off x="15665015" y="3106249"/>
            <a:ext cx="1597381" cy="537785"/>
          </a:xfrm>
          <a:custGeom>
            <a:rect b="b" l="l" r="r" t="t"/>
            <a:pathLst>
              <a:path extrusionOk="0" h="537785" w="1597381">
                <a:moveTo>
                  <a:pt x="0" y="0"/>
                </a:moveTo>
                <a:lnTo>
                  <a:pt x="1597382" y="0"/>
                </a:lnTo>
                <a:lnTo>
                  <a:pt x="1597382" y="537785"/>
                </a:lnTo>
                <a:lnTo>
                  <a:pt x="0" y="537785"/>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5"/>
          <p:cNvSpPr/>
          <p:nvPr/>
        </p:nvSpPr>
        <p:spPr>
          <a:xfrm>
            <a:off x="6295955" y="243210"/>
            <a:ext cx="9710639" cy="9556011"/>
          </a:xfrm>
          <a:custGeom>
            <a:rect b="b" l="l" r="r" t="t"/>
            <a:pathLst>
              <a:path extrusionOk="0" h="9556011" w="9710639">
                <a:moveTo>
                  <a:pt x="0" y="0"/>
                </a:moveTo>
                <a:lnTo>
                  <a:pt x="9710639" y="0"/>
                </a:lnTo>
                <a:lnTo>
                  <a:pt x="9710639" y="9556011"/>
                </a:lnTo>
                <a:lnTo>
                  <a:pt x="0" y="955601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5"/>
          <p:cNvSpPr txBox="1"/>
          <p:nvPr/>
        </p:nvSpPr>
        <p:spPr>
          <a:xfrm>
            <a:off x="533400" y="1316885"/>
            <a:ext cx="5923494" cy="4116512"/>
          </a:xfrm>
          <a:prstGeom prst="rect">
            <a:avLst/>
          </a:prstGeom>
          <a:noFill/>
          <a:ln>
            <a:noFill/>
          </a:ln>
        </p:spPr>
        <p:txBody>
          <a:bodyPr anchorCtr="0" anchor="t" bIns="0" lIns="0" spcFirstLastPara="1" rIns="0" wrap="square" tIns="0">
            <a:spAutoFit/>
          </a:bodyPr>
          <a:lstStyle/>
          <a:p>
            <a:pPr indent="0" lvl="0" marL="0" marR="0" rtl="0" algn="ctr">
              <a:lnSpc>
                <a:spcPct val="113001"/>
              </a:lnSpc>
              <a:spcBef>
                <a:spcPts val="0"/>
              </a:spcBef>
              <a:spcAft>
                <a:spcPts val="0"/>
              </a:spcAft>
              <a:buNone/>
            </a:pPr>
            <a:r>
              <a:rPr lang="en-US" sz="9499">
                <a:solidFill>
                  <a:srgbClr val="000000"/>
                </a:solidFill>
                <a:latin typeface="Impact"/>
                <a:ea typeface="Impact"/>
                <a:cs typeface="Impact"/>
                <a:sym typeface="Impact"/>
              </a:rPr>
              <a:t>DIAGRAMA DE DESPLIEGUE</a:t>
            </a:r>
            <a:endParaRPr/>
          </a:p>
        </p:txBody>
      </p:sp>
      <p:sp>
        <p:nvSpPr>
          <p:cNvPr id="236" name="Google Shape;236;p5"/>
          <p:cNvSpPr/>
          <p:nvPr/>
        </p:nvSpPr>
        <p:spPr>
          <a:xfrm>
            <a:off x="4557040" y="3106249"/>
            <a:ext cx="1597381" cy="537785"/>
          </a:xfrm>
          <a:custGeom>
            <a:rect b="b" l="l" r="r" t="t"/>
            <a:pathLst>
              <a:path extrusionOk="0" h="537785" w="1597381">
                <a:moveTo>
                  <a:pt x="0" y="0"/>
                </a:moveTo>
                <a:lnTo>
                  <a:pt x="1597381" y="0"/>
                </a:lnTo>
                <a:lnTo>
                  <a:pt x="1597381" y="537785"/>
                </a:lnTo>
                <a:lnTo>
                  <a:pt x="0" y="537785"/>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44" name="Shape 244"/>
        <p:cNvGrpSpPr/>
        <p:nvPr/>
      </p:nvGrpSpPr>
      <p:grpSpPr>
        <a:xfrm>
          <a:off x="0" y="0"/>
          <a:ext cx="0" cy="0"/>
          <a:chOff x="0" y="0"/>
          <a:chExt cx="0" cy="0"/>
        </a:xfrm>
      </p:grpSpPr>
      <p:grpSp>
        <p:nvGrpSpPr>
          <p:cNvPr id="245" name="Google Shape;245;p6"/>
          <p:cNvGrpSpPr/>
          <p:nvPr/>
        </p:nvGrpSpPr>
        <p:grpSpPr>
          <a:xfrm>
            <a:off x="-1180592" y="2898944"/>
            <a:ext cx="8340931" cy="8340931"/>
            <a:chOff x="0" y="0"/>
            <a:chExt cx="812800" cy="812800"/>
          </a:xfrm>
        </p:grpSpPr>
        <p:sp>
          <p:nvSpPr>
            <p:cNvPr id="246" name="Google Shape;246;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8" name="Google Shape;248;p6"/>
          <p:cNvGrpSpPr/>
          <p:nvPr/>
        </p:nvGrpSpPr>
        <p:grpSpPr>
          <a:xfrm>
            <a:off x="-522981" y="8815709"/>
            <a:ext cx="8886237" cy="1471291"/>
            <a:chOff x="0" y="-38100"/>
            <a:chExt cx="2340408" cy="387500"/>
          </a:xfrm>
        </p:grpSpPr>
        <p:sp>
          <p:nvSpPr>
            <p:cNvPr id="249" name="Google Shape;249;p6"/>
            <p:cNvSpPr/>
            <p:nvPr/>
          </p:nvSpPr>
          <p:spPr>
            <a:xfrm>
              <a:off x="0" y="0"/>
              <a:ext cx="2340408" cy="349400"/>
            </a:xfrm>
            <a:custGeom>
              <a:rect b="b" l="l" r="r" t="t"/>
              <a:pathLst>
                <a:path extrusionOk="0" h="349400" w="2340408">
                  <a:moveTo>
                    <a:pt x="0" y="0"/>
                  </a:moveTo>
                  <a:lnTo>
                    <a:pt x="2340408" y="0"/>
                  </a:lnTo>
                  <a:lnTo>
                    <a:pt x="2340408" y="349400"/>
                  </a:lnTo>
                  <a:lnTo>
                    <a:pt x="0" y="349400"/>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6"/>
            <p:cNvSpPr txBox="1"/>
            <p:nvPr/>
          </p:nvSpPr>
          <p:spPr>
            <a:xfrm>
              <a:off x="0" y="-38100"/>
              <a:ext cx="2340408" cy="387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1" name="Google Shape;251;p6"/>
          <p:cNvSpPr/>
          <p:nvPr/>
        </p:nvSpPr>
        <p:spPr>
          <a:xfrm>
            <a:off x="11296203" y="765889"/>
            <a:ext cx="1577524" cy="773644"/>
          </a:xfrm>
          <a:custGeom>
            <a:rect b="b" l="l" r="r" t="t"/>
            <a:pathLst>
              <a:path extrusionOk="0" h="773644" w="1577524">
                <a:moveTo>
                  <a:pt x="0" y="0"/>
                </a:moveTo>
                <a:lnTo>
                  <a:pt x="1577525" y="0"/>
                </a:lnTo>
                <a:lnTo>
                  <a:pt x="1577525" y="773644"/>
                </a:lnTo>
                <a:lnTo>
                  <a:pt x="0" y="77364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52" name="Google Shape;252;p6"/>
          <p:cNvGrpSpPr/>
          <p:nvPr/>
        </p:nvGrpSpPr>
        <p:grpSpPr>
          <a:xfrm>
            <a:off x="15054241" y="3820733"/>
            <a:ext cx="2291432" cy="2291432"/>
            <a:chOff x="0" y="0"/>
            <a:chExt cx="812800" cy="812800"/>
          </a:xfrm>
        </p:grpSpPr>
        <p:sp>
          <p:nvSpPr>
            <p:cNvPr id="253" name="Google Shape;253;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5" name="Google Shape;255;p6"/>
          <p:cNvSpPr/>
          <p:nvPr/>
        </p:nvSpPr>
        <p:spPr>
          <a:xfrm>
            <a:off x="15599878" y="4365869"/>
            <a:ext cx="1200159" cy="1201160"/>
          </a:xfrm>
          <a:custGeom>
            <a:rect b="b" l="l" r="r" t="t"/>
            <a:pathLst>
              <a:path extrusionOk="0" h="1201160" w="1200159">
                <a:moveTo>
                  <a:pt x="0" y="0"/>
                </a:moveTo>
                <a:lnTo>
                  <a:pt x="1200159" y="0"/>
                </a:lnTo>
                <a:lnTo>
                  <a:pt x="1200159" y="1201160"/>
                </a:lnTo>
                <a:lnTo>
                  <a:pt x="0" y="120116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6"/>
          <p:cNvSpPr/>
          <p:nvPr/>
        </p:nvSpPr>
        <p:spPr>
          <a:xfrm>
            <a:off x="327113" y="268094"/>
            <a:ext cx="13666452" cy="9788596"/>
          </a:xfrm>
          <a:custGeom>
            <a:rect b="b" l="l" r="r" t="t"/>
            <a:pathLst>
              <a:path extrusionOk="0" h="9788596" w="13666452">
                <a:moveTo>
                  <a:pt x="0" y="0"/>
                </a:moveTo>
                <a:lnTo>
                  <a:pt x="13666452" y="0"/>
                </a:lnTo>
                <a:lnTo>
                  <a:pt x="13666452" y="9788596"/>
                </a:lnTo>
                <a:lnTo>
                  <a:pt x="0" y="978859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6"/>
          <p:cNvSpPr txBox="1"/>
          <p:nvPr/>
        </p:nvSpPr>
        <p:spPr>
          <a:xfrm>
            <a:off x="11931767" y="367154"/>
            <a:ext cx="5841731" cy="2704917"/>
          </a:xfrm>
          <a:prstGeom prst="rect">
            <a:avLst/>
          </a:prstGeom>
          <a:noFill/>
          <a:ln>
            <a:noFill/>
          </a:ln>
        </p:spPr>
        <p:txBody>
          <a:bodyPr anchorCtr="0" anchor="t" bIns="0" lIns="0" spcFirstLastPara="1" rIns="0" wrap="square" tIns="0">
            <a:spAutoFit/>
          </a:bodyPr>
          <a:lstStyle/>
          <a:p>
            <a:pPr indent="0" lvl="0" marL="0" marR="0" rtl="0" algn="r">
              <a:lnSpc>
                <a:spcPct val="112997"/>
              </a:lnSpc>
              <a:spcBef>
                <a:spcPts val="0"/>
              </a:spcBef>
              <a:spcAft>
                <a:spcPts val="0"/>
              </a:spcAft>
              <a:buNone/>
            </a:pPr>
            <a:r>
              <a:rPr lang="en-US" sz="8763">
                <a:solidFill>
                  <a:srgbClr val="000000"/>
                </a:solidFill>
                <a:latin typeface="Impact"/>
                <a:ea typeface="Impact"/>
                <a:cs typeface="Impact"/>
                <a:sym typeface="Impact"/>
              </a:rPr>
              <a:t>MODELO DE DATOS</a:t>
            </a:r>
            <a:endParaRPr/>
          </a:p>
        </p:txBody>
      </p:sp>
      <p:sp>
        <p:nvSpPr>
          <p:cNvPr id="258" name="Google Shape;258;p6"/>
          <p:cNvSpPr txBox="1"/>
          <p:nvPr/>
        </p:nvSpPr>
        <p:spPr>
          <a:xfrm>
            <a:off x="14196654" y="9569217"/>
            <a:ext cx="2806448" cy="487473"/>
          </a:xfrm>
          <a:prstGeom prst="rect">
            <a:avLst/>
          </a:prstGeom>
          <a:noFill/>
          <a:ln>
            <a:noFill/>
          </a:ln>
        </p:spPr>
        <p:txBody>
          <a:bodyPr anchorCtr="0" anchor="t" bIns="0" lIns="0" spcFirstLastPara="1" rIns="0" wrap="square" tIns="0">
            <a:spAutoFit/>
          </a:bodyPr>
          <a:lstStyle/>
          <a:p>
            <a:pPr indent="0" lvl="0" marL="0" marR="0" rtl="0" algn="ctr">
              <a:lnSpc>
                <a:spcPct val="139986"/>
              </a:lnSpc>
              <a:spcBef>
                <a:spcPts val="0"/>
              </a:spcBef>
              <a:spcAft>
                <a:spcPts val="0"/>
              </a:spcAft>
              <a:buNone/>
            </a:pPr>
            <a:r>
              <a:rPr lang="en-US" sz="1433">
                <a:solidFill>
                  <a:srgbClr val="000000"/>
                </a:solidFill>
                <a:latin typeface="Open Sans"/>
                <a:ea typeface="Open Sans"/>
                <a:cs typeface="Open Sans"/>
                <a:sym typeface="Open Sans"/>
              </a:rPr>
              <a:t>Segmento del modelo de datos utilizado para el incremento 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66" name="Shape 266"/>
        <p:cNvGrpSpPr/>
        <p:nvPr/>
      </p:nvGrpSpPr>
      <p:grpSpPr>
        <a:xfrm>
          <a:off x="0" y="0"/>
          <a:ext cx="0" cy="0"/>
          <a:chOff x="0" y="0"/>
          <a:chExt cx="0" cy="0"/>
        </a:xfrm>
      </p:grpSpPr>
      <p:grpSp>
        <p:nvGrpSpPr>
          <p:cNvPr id="267" name="Google Shape;267;p7"/>
          <p:cNvGrpSpPr/>
          <p:nvPr/>
        </p:nvGrpSpPr>
        <p:grpSpPr>
          <a:xfrm>
            <a:off x="2941084" y="1606448"/>
            <a:ext cx="234493" cy="8374261"/>
            <a:chOff x="0" y="-38100"/>
            <a:chExt cx="61760" cy="2205567"/>
          </a:xfrm>
        </p:grpSpPr>
        <p:sp>
          <p:nvSpPr>
            <p:cNvPr id="268" name="Google Shape;268;p7"/>
            <p:cNvSpPr/>
            <p:nvPr/>
          </p:nvSpPr>
          <p:spPr>
            <a:xfrm>
              <a:off x="0" y="0"/>
              <a:ext cx="61760" cy="2167467"/>
            </a:xfrm>
            <a:custGeom>
              <a:rect b="b" l="l" r="r" t="t"/>
              <a:pathLst>
                <a:path extrusionOk="0" h="2167467" w="61760">
                  <a:moveTo>
                    <a:pt x="0" y="0"/>
                  </a:moveTo>
                  <a:lnTo>
                    <a:pt x="61760" y="0"/>
                  </a:lnTo>
                  <a:lnTo>
                    <a:pt x="61760" y="2167467"/>
                  </a:lnTo>
                  <a:lnTo>
                    <a:pt x="0" y="216746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7"/>
            <p:cNvSpPr txBox="1"/>
            <p:nvPr/>
          </p:nvSpPr>
          <p:spPr>
            <a:xfrm>
              <a:off x="0" y="-38100"/>
              <a:ext cx="61760" cy="220556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0" name="Google Shape;270;p7"/>
          <p:cNvGrpSpPr/>
          <p:nvPr/>
        </p:nvGrpSpPr>
        <p:grpSpPr>
          <a:xfrm>
            <a:off x="-231633" y="-1921513"/>
            <a:ext cx="3860075" cy="3860075"/>
            <a:chOff x="0" y="0"/>
            <a:chExt cx="812800" cy="812800"/>
          </a:xfrm>
        </p:grpSpPr>
        <p:sp>
          <p:nvSpPr>
            <p:cNvPr id="271" name="Google Shape;271;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3" name="Google Shape;273;p7"/>
          <p:cNvGrpSpPr/>
          <p:nvPr/>
        </p:nvGrpSpPr>
        <p:grpSpPr>
          <a:xfrm>
            <a:off x="-450373" y="-348365"/>
            <a:ext cx="2148777" cy="10635365"/>
            <a:chOff x="0" y="-38100"/>
            <a:chExt cx="229394" cy="1135384"/>
          </a:xfrm>
        </p:grpSpPr>
        <p:sp>
          <p:nvSpPr>
            <p:cNvPr id="274" name="Google Shape;274;p7"/>
            <p:cNvSpPr/>
            <p:nvPr/>
          </p:nvSpPr>
          <p:spPr>
            <a:xfrm>
              <a:off x="0" y="0"/>
              <a:ext cx="229394" cy="1097284"/>
            </a:xfrm>
            <a:custGeom>
              <a:rect b="b" l="l" r="r" t="t"/>
              <a:pathLst>
                <a:path extrusionOk="0" h="1097284" w="229394">
                  <a:moveTo>
                    <a:pt x="0" y="0"/>
                  </a:moveTo>
                  <a:lnTo>
                    <a:pt x="229394" y="0"/>
                  </a:lnTo>
                  <a:lnTo>
                    <a:pt x="229394" y="1097284"/>
                  </a:lnTo>
                  <a:lnTo>
                    <a:pt x="0" y="1097284"/>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7"/>
            <p:cNvSpPr txBox="1"/>
            <p:nvPr/>
          </p:nvSpPr>
          <p:spPr>
            <a:xfrm>
              <a:off x="0" y="-38100"/>
              <a:ext cx="229394" cy="113538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6" name="Google Shape;276;p7"/>
          <p:cNvGrpSpPr/>
          <p:nvPr/>
        </p:nvGrpSpPr>
        <p:grpSpPr>
          <a:xfrm>
            <a:off x="9547785" y="7287542"/>
            <a:ext cx="5386334" cy="5386334"/>
            <a:chOff x="0" y="0"/>
            <a:chExt cx="812800" cy="812800"/>
          </a:xfrm>
        </p:grpSpPr>
        <p:sp>
          <p:nvSpPr>
            <p:cNvPr id="277" name="Google Shape;277;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9" name="Google Shape;279;p7"/>
          <p:cNvSpPr/>
          <p:nvPr/>
        </p:nvSpPr>
        <p:spPr>
          <a:xfrm>
            <a:off x="2713899" y="2686402"/>
            <a:ext cx="14545401" cy="5621952"/>
          </a:xfrm>
          <a:custGeom>
            <a:rect b="b" l="l" r="r" t="t"/>
            <a:pathLst>
              <a:path extrusionOk="0" h="5621952" w="14545401">
                <a:moveTo>
                  <a:pt x="0" y="0"/>
                </a:moveTo>
                <a:lnTo>
                  <a:pt x="14545401" y="0"/>
                </a:lnTo>
                <a:lnTo>
                  <a:pt x="14545401" y="5621952"/>
                </a:lnTo>
                <a:lnTo>
                  <a:pt x="0" y="5621952"/>
                </a:lnTo>
                <a:lnTo>
                  <a:pt x="0" y="0"/>
                </a:lnTo>
                <a:close/>
              </a:path>
            </a:pathLst>
          </a:custGeom>
          <a:blipFill rotWithShape="1">
            <a:blip r:embed="rId3">
              <a:alphaModFix/>
            </a:blip>
            <a:stretch>
              <a:fillRect b="0" l="-524" r="-52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7"/>
          <p:cNvSpPr txBox="1"/>
          <p:nvPr/>
        </p:nvSpPr>
        <p:spPr>
          <a:xfrm>
            <a:off x="4418258" y="313578"/>
            <a:ext cx="12841042" cy="1896313"/>
          </a:xfrm>
          <a:prstGeom prst="rect">
            <a:avLst/>
          </a:prstGeom>
          <a:noFill/>
          <a:ln>
            <a:noFill/>
          </a:ln>
        </p:spPr>
        <p:txBody>
          <a:bodyPr anchorCtr="0" anchor="t" bIns="0" lIns="0" spcFirstLastPara="1" rIns="0" wrap="square" tIns="0">
            <a:spAutoFit/>
          </a:bodyPr>
          <a:lstStyle/>
          <a:p>
            <a:pPr indent="0" lvl="0" marL="0" marR="0" rtl="0" algn="r">
              <a:lnSpc>
                <a:spcPct val="112996"/>
              </a:lnSpc>
              <a:spcBef>
                <a:spcPts val="0"/>
              </a:spcBef>
              <a:spcAft>
                <a:spcPts val="0"/>
              </a:spcAft>
              <a:buNone/>
            </a:pPr>
            <a:r>
              <a:rPr lang="en-US" sz="11457">
                <a:solidFill>
                  <a:srgbClr val="000000"/>
                </a:solidFill>
                <a:latin typeface="Impact"/>
                <a:ea typeface="Impact"/>
                <a:cs typeface="Impact"/>
                <a:sym typeface="Impact"/>
              </a:rPr>
              <a:t>ÁRBOL DE NAVEGACIÓN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88" name="Shape 288"/>
        <p:cNvGrpSpPr/>
        <p:nvPr/>
      </p:nvGrpSpPr>
      <p:grpSpPr>
        <a:xfrm>
          <a:off x="0" y="0"/>
          <a:ext cx="0" cy="0"/>
          <a:chOff x="0" y="0"/>
          <a:chExt cx="0" cy="0"/>
        </a:xfrm>
      </p:grpSpPr>
      <p:grpSp>
        <p:nvGrpSpPr>
          <p:cNvPr id="289" name="Google Shape;289;p8"/>
          <p:cNvGrpSpPr/>
          <p:nvPr/>
        </p:nvGrpSpPr>
        <p:grpSpPr>
          <a:xfrm>
            <a:off x="-29169" y="8086615"/>
            <a:ext cx="18317169" cy="2200385"/>
            <a:chOff x="0" y="-38100"/>
            <a:chExt cx="4824275" cy="579525"/>
          </a:xfrm>
        </p:grpSpPr>
        <p:sp>
          <p:nvSpPr>
            <p:cNvPr id="290" name="Google Shape;290;p8"/>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8"/>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92" name="Google Shape;292;p8"/>
          <p:cNvGrpSpPr/>
          <p:nvPr/>
        </p:nvGrpSpPr>
        <p:grpSpPr>
          <a:xfrm>
            <a:off x="426647" y="3094308"/>
            <a:ext cx="5058822" cy="6518695"/>
            <a:chOff x="0" y="-38100"/>
            <a:chExt cx="903815" cy="1164637"/>
          </a:xfrm>
        </p:grpSpPr>
        <p:sp>
          <p:nvSpPr>
            <p:cNvPr id="293" name="Google Shape;293;p8"/>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8"/>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95" name="Google Shape;295;p8"/>
          <p:cNvGrpSpPr/>
          <p:nvPr/>
        </p:nvGrpSpPr>
        <p:grpSpPr>
          <a:xfrm>
            <a:off x="799195" y="2496742"/>
            <a:ext cx="4313727" cy="1353005"/>
            <a:chOff x="0" y="-38100"/>
            <a:chExt cx="770695" cy="241729"/>
          </a:xfrm>
        </p:grpSpPr>
        <p:sp>
          <p:nvSpPr>
            <p:cNvPr id="296" name="Google Shape;296;p8"/>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8"/>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8" name="Google Shape;298;p8"/>
          <p:cNvSpPr txBox="1"/>
          <p:nvPr/>
        </p:nvSpPr>
        <p:spPr>
          <a:xfrm>
            <a:off x="1042879" y="1014626"/>
            <a:ext cx="7658974" cy="1570354"/>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RF02</a:t>
            </a:r>
            <a:endParaRPr/>
          </a:p>
        </p:txBody>
      </p:sp>
      <p:sp>
        <p:nvSpPr>
          <p:cNvPr id="299" name="Google Shape;299;p8"/>
          <p:cNvSpPr txBox="1"/>
          <p:nvPr/>
        </p:nvSpPr>
        <p:spPr>
          <a:xfrm>
            <a:off x="13588555" y="7742328"/>
            <a:ext cx="2730865" cy="45084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EFFICIENCY</a:t>
            </a:r>
            <a:endParaRPr/>
          </a:p>
        </p:txBody>
      </p:sp>
      <p:grpSp>
        <p:nvGrpSpPr>
          <p:cNvPr id="300" name="Google Shape;300;p8"/>
          <p:cNvGrpSpPr/>
          <p:nvPr/>
        </p:nvGrpSpPr>
        <p:grpSpPr>
          <a:xfrm>
            <a:off x="12565518" y="-2454676"/>
            <a:ext cx="7186254" cy="7186254"/>
            <a:chOff x="0" y="0"/>
            <a:chExt cx="812800" cy="812800"/>
          </a:xfrm>
        </p:grpSpPr>
        <p:sp>
          <p:nvSpPr>
            <p:cNvPr id="301" name="Google Shape;301;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3" name="Google Shape;303;p8"/>
          <p:cNvSpPr/>
          <p:nvPr/>
        </p:nvSpPr>
        <p:spPr>
          <a:xfrm rot="10800000">
            <a:off x="4620050" y="1346589"/>
            <a:ext cx="5741326" cy="668082"/>
          </a:xfrm>
          <a:custGeom>
            <a:rect b="b" l="l" r="r" t="t"/>
            <a:pathLst>
              <a:path extrusionOk="0" h="668082" w="5741326">
                <a:moveTo>
                  <a:pt x="0" y="0"/>
                </a:moveTo>
                <a:lnTo>
                  <a:pt x="5741326" y="0"/>
                </a:lnTo>
                <a:lnTo>
                  <a:pt x="5741326" y="668081"/>
                </a:lnTo>
                <a:lnTo>
                  <a:pt x="0" y="668081"/>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8"/>
          <p:cNvSpPr/>
          <p:nvPr/>
        </p:nvSpPr>
        <p:spPr>
          <a:xfrm>
            <a:off x="8996418" y="4548640"/>
            <a:ext cx="1766910" cy="594860"/>
          </a:xfrm>
          <a:custGeom>
            <a:rect b="b" l="l" r="r" t="t"/>
            <a:pathLst>
              <a:path extrusionOk="0" h="594860" w="1766910">
                <a:moveTo>
                  <a:pt x="0" y="0"/>
                </a:moveTo>
                <a:lnTo>
                  <a:pt x="1766910" y="0"/>
                </a:lnTo>
                <a:lnTo>
                  <a:pt x="1766910" y="594860"/>
                </a:lnTo>
                <a:lnTo>
                  <a:pt x="0" y="59486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8"/>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06" name="Google Shape;306;p8"/>
          <p:cNvGrpSpPr/>
          <p:nvPr/>
        </p:nvGrpSpPr>
        <p:grpSpPr>
          <a:xfrm>
            <a:off x="11299775" y="3094308"/>
            <a:ext cx="6324565" cy="6518695"/>
            <a:chOff x="0" y="-38100"/>
            <a:chExt cx="1129954" cy="1164637"/>
          </a:xfrm>
        </p:grpSpPr>
        <p:sp>
          <p:nvSpPr>
            <p:cNvPr id="307" name="Google Shape;307;p8"/>
            <p:cNvSpPr/>
            <p:nvPr/>
          </p:nvSpPr>
          <p:spPr>
            <a:xfrm>
              <a:off x="0" y="0"/>
              <a:ext cx="1129954" cy="1126537"/>
            </a:xfrm>
            <a:custGeom>
              <a:rect b="b" l="l" r="r" t="t"/>
              <a:pathLst>
                <a:path extrusionOk="0" h="1126537" w="1129954">
                  <a:moveTo>
                    <a:pt x="0" y="0"/>
                  </a:moveTo>
                  <a:lnTo>
                    <a:pt x="1129954" y="0"/>
                  </a:lnTo>
                  <a:lnTo>
                    <a:pt x="1129954"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8"/>
            <p:cNvSpPr txBox="1"/>
            <p:nvPr/>
          </p:nvSpPr>
          <p:spPr>
            <a:xfrm>
              <a:off x="0" y="-38100"/>
              <a:ext cx="1129954"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09" name="Google Shape;309;p8"/>
          <p:cNvGrpSpPr/>
          <p:nvPr/>
        </p:nvGrpSpPr>
        <p:grpSpPr>
          <a:xfrm>
            <a:off x="11674508" y="2496742"/>
            <a:ext cx="5577284" cy="1353005"/>
            <a:chOff x="0" y="-38100"/>
            <a:chExt cx="996444" cy="241729"/>
          </a:xfrm>
        </p:grpSpPr>
        <p:sp>
          <p:nvSpPr>
            <p:cNvPr id="310" name="Google Shape;310;p8"/>
            <p:cNvSpPr/>
            <p:nvPr/>
          </p:nvSpPr>
          <p:spPr>
            <a:xfrm>
              <a:off x="0" y="0"/>
              <a:ext cx="996444" cy="203629"/>
            </a:xfrm>
            <a:custGeom>
              <a:rect b="b" l="l" r="r" t="t"/>
              <a:pathLst>
                <a:path extrusionOk="0" h="203629" w="996444">
                  <a:moveTo>
                    <a:pt x="0" y="0"/>
                  </a:moveTo>
                  <a:lnTo>
                    <a:pt x="996444" y="0"/>
                  </a:lnTo>
                  <a:lnTo>
                    <a:pt x="996444"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8"/>
            <p:cNvSpPr txBox="1"/>
            <p:nvPr/>
          </p:nvSpPr>
          <p:spPr>
            <a:xfrm>
              <a:off x="0" y="-38100"/>
              <a:ext cx="996444"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2" name="Google Shape;312;p8"/>
          <p:cNvGrpSpPr/>
          <p:nvPr/>
        </p:nvGrpSpPr>
        <p:grpSpPr>
          <a:xfrm>
            <a:off x="5863211" y="3094308"/>
            <a:ext cx="5058822" cy="6518695"/>
            <a:chOff x="0" y="-38100"/>
            <a:chExt cx="903815" cy="1164637"/>
          </a:xfrm>
        </p:grpSpPr>
        <p:sp>
          <p:nvSpPr>
            <p:cNvPr id="313" name="Google Shape;313;p8"/>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8"/>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5" name="Google Shape;315;p8"/>
          <p:cNvGrpSpPr/>
          <p:nvPr/>
        </p:nvGrpSpPr>
        <p:grpSpPr>
          <a:xfrm>
            <a:off x="6235759" y="2496742"/>
            <a:ext cx="4313727" cy="1353005"/>
            <a:chOff x="0" y="-38100"/>
            <a:chExt cx="770695" cy="241729"/>
          </a:xfrm>
        </p:grpSpPr>
        <p:sp>
          <p:nvSpPr>
            <p:cNvPr id="316" name="Google Shape;316;p8"/>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8"/>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8" name="Google Shape;318;p8"/>
          <p:cNvSpPr/>
          <p:nvPr/>
        </p:nvSpPr>
        <p:spPr>
          <a:xfrm>
            <a:off x="11359527" y="4094256"/>
            <a:ext cx="6205061" cy="5008812"/>
          </a:xfrm>
          <a:custGeom>
            <a:rect b="b" l="l" r="r" t="t"/>
            <a:pathLst>
              <a:path extrusionOk="0" h="5008812" w="6205061">
                <a:moveTo>
                  <a:pt x="0" y="0"/>
                </a:moveTo>
                <a:lnTo>
                  <a:pt x="6205061" y="0"/>
                </a:lnTo>
                <a:lnTo>
                  <a:pt x="6205061" y="5008811"/>
                </a:lnTo>
                <a:lnTo>
                  <a:pt x="0" y="500881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8"/>
          <p:cNvSpPr txBox="1"/>
          <p:nvPr/>
        </p:nvSpPr>
        <p:spPr>
          <a:xfrm>
            <a:off x="1087200" y="2917116"/>
            <a:ext cx="4025722" cy="666590"/>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1" lang="en-US" sz="3685">
                <a:solidFill>
                  <a:srgbClr val="FFFFFF"/>
                </a:solidFill>
                <a:latin typeface="Poppins Black"/>
                <a:ea typeface="Poppins Black"/>
                <a:cs typeface="Poppins Black"/>
                <a:sym typeface="Poppins Black"/>
              </a:rPr>
              <a:t>REQUERIMIENTO</a:t>
            </a:r>
            <a:endParaRPr/>
          </a:p>
        </p:txBody>
      </p:sp>
      <p:sp>
        <p:nvSpPr>
          <p:cNvPr id="320" name="Google Shape;320;p8"/>
          <p:cNvSpPr txBox="1"/>
          <p:nvPr/>
        </p:nvSpPr>
        <p:spPr>
          <a:xfrm>
            <a:off x="11525829" y="770766"/>
            <a:ext cx="5212638" cy="176257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500">
                <a:solidFill>
                  <a:srgbClr val="545454"/>
                </a:solidFill>
                <a:latin typeface="Inter Medium"/>
                <a:ea typeface="Inter Medium"/>
                <a:cs typeface="Inter Medium"/>
                <a:sym typeface="Inter Medium"/>
              </a:rPr>
              <a:t>Visualización de la ficha financiera del cliente.</a:t>
            </a:r>
            <a:endParaRPr/>
          </a:p>
          <a:p>
            <a:pPr indent="0" lvl="0" marL="0" marR="0" rtl="0" algn="just">
              <a:lnSpc>
                <a:spcPct val="140000"/>
              </a:lnSpc>
              <a:spcBef>
                <a:spcPts val="0"/>
              </a:spcBef>
              <a:spcAft>
                <a:spcPts val="0"/>
              </a:spcAft>
              <a:buNone/>
            </a:pPr>
            <a:r>
              <a:rPr b="1" lang="en-US" sz="2500">
                <a:solidFill>
                  <a:srgbClr val="545454"/>
                </a:solidFill>
                <a:latin typeface="Inter Medium"/>
                <a:ea typeface="Inter Medium"/>
                <a:cs typeface="Inter Medium"/>
                <a:sym typeface="Inter Medium"/>
              </a:rPr>
              <a:t>Corresponde al UR 1.2</a:t>
            </a:r>
            <a:endParaRPr/>
          </a:p>
          <a:p>
            <a:pPr indent="0" lvl="0" marL="0" marR="0" rtl="0" algn="just">
              <a:lnSpc>
                <a:spcPct val="140000"/>
              </a:lnSpc>
              <a:spcBef>
                <a:spcPts val="0"/>
              </a:spcBef>
              <a:spcAft>
                <a:spcPts val="0"/>
              </a:spcAft>
              <a:buNone/>
            </a:pPr>
            <a:r>
              <a:t/>
            </a:r>
            <a:endParaRPr b="1" sz="2500">
              <a:solidFill>
                <a:srgbClr val="545454"/>
              </a:solidFill>
              <a:latin typeface="Inter Medium"/>
              <a:ea typeface="Inter Medium"/>
              <a:cs typeface="Inter Medium"/>
              <a:sym typeface="Inter Medium"/>
            </a:endParaRPr>
          </a:p>
        </p:txBody>
      </p:sp>
      <p:sp>
        <p:nvSpPr>
          <p:cNvPr id="321" name="Google Shape;321;p8"/>
          <p:cNvSpPr txBox="1"/>
          <p:nvPr/>
        </p:nvSpPr>
        <p:spPr>
          <a:xfrm>
            <a:off x="11674508" y="2917116"/>
            <a:ext cx="5577284" cy="66838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lang="en-US" sz="3685">
                <a:solidFill>
                  <a:srgbClr val="FFFFFF"/>
                </a:solidFill>
                <a:latin typeface="Poppins Black"/>
                <a:ea typeface="Poppins Black"/>
                <a:cs typeface="Poppins Black"/>
                <a:sym typeface="Poppins Black"/>
              </a:rPr>
              <a:t>CASO DE USO</a:t>
            </a:r>
            <a:endParaRPr/>
          </a:p>
        </p:txBody>
      </p:sp>
      <p:sp>
        <p:nvSpPr>
          <p:cNvPr id="322" name="Google Shape;322;p8"/>
          <p:cNvSpPr txBox="1"/>
          <p:nvPr/>
        </p:nvSpPr>
        <p:spPr>
          <a:xfrm>
            <a:off x="6523764" y="2917116"/>
            <a:ext cx="4025722" cy="66838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lang="en-US" sz="3685">
                <a:solidFill>
                  <a:srgbClr val="FFFFFF"/>
                </a:solidFill>
                <a:latin typeface="Poppins Black"/>
                <a:ea typeface="Poppins Black"/>
                <a:cs typeface="Poppins Black"/>
                <a:sym typeface="Poppins Black"/>
              </a:rPr>
              <a:t>UR 1.2</a:t>
            </a:r>
            <a:endParaRPr/>
          </a:p>
        </p:txBody>
      </p:sp>
      <p:sp>
        <p:nvSpPr>
          <p:cNvPr id="323" name="Google Shape;323;p8"/>
          <p:cNvSpPr txBox="1"/>
          <p:nvPr/>
        </p:nvSpPr>
        <p:spPr>
          <a:xfrm>
            <a:off x="503350" y="3935475"/>
            <a:ext cx="4828800" cy="6024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1900">
                <a:solidFill>
                  <a:srgbClr val="FFFFFF"/>
                </a:solidFill>
                <a:latin typeface="Inter"/>
                <a:ea typeface="Inter"/>
                <a:cs typeface="Inter"/>
                <a:sym typeface="Inter"/>
              </a:rPr>
              <a:t>El sistema debe mostrar al usuario la "Ficha Financiera del Cliente". Esta pantalla debe mostrar, bloqueando cualquier opción de edición, la información de contacto del cliente obtenida desde la integración con la base de datos comercial. En esta se muestra una tabla que lista cronológicamente todas las Notas de Venta emitidas a favor del cliente, junto con el historial completo de los pagos realizados, permitiendo al usuario evaluar el comportamiento de pago y la historia de deuda asociada al cliente.</a:t>
            </a:r>
            <a:endParaRPr/>
          </a:p>
          <a:p>
            <a:pPr indent="0" lvl="0" marL="0" marR="0" rtl="0" algn="just">
              <a:lnSpc>
                <a:spcPct val="125263"/>
              </a:lnSpc>
              <a:spcBef>
                <a:spcPts val="0"/>
              </a:spcBef>
              <a:spcAft>
                <a:spcPts val="0"/>
              </a:spcAft>
              <a:buNone/>
            </a:pPr>
            <a:r>
              <a:t/>
            </a:r>
            <a:endParaRPr sz="1900">
              <a:solidFill>
                <a:srgbClr val="FFFFFF"/>
              </a:solidFill>
              <a:latin typeface="Inter"/>
              <a:ea typeface="Inter"/>
              <a:cs typeface="Inter"/>
              <a:sym typeface="Inter"/>
            </a:endParaRPr>
          </a:p>
        </p:txBody>
      </p:sp>
      <p:sp>
        <p:nvSpPr>
          <p:cNvPr id="324" name="Google Shape;324;p8"/>
          <p:cNvSpPr txBox="1"/>
          <p:nvPr/>
        </p:nvSpPr>
        <p:spPr>
          <a:xfrm>
            <a:off x="6235759" y="3935472"/>
            <a:ext cx="4313727" cy="389880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Como usuario de finanzas, quiero visualizar la ficha financiera de un cliente con su historial de ventas y pagos sin posibilidad de edición para evaluar su comportamiento de pago y estado de deuda.</a:t>
            </a:r>
            <a:endParaRPr/>
          </a:p>
          <a:p>
            <a:pPr indent="0" lvl="0" marL="0" marR="0" rtl="0" algn="just">
              <a:lnSpc>
                <a:spcPct val="140000"/>
              </a:lnSpc>
              <a:spcBef>
                <a:spcPts val="0"/>
              </a:spcBef>
              <a:spcAft>
                <a:spcPts val="0"/>
              </a:spcAft>
              <a:buNone/>
            </a:pPr>
            <a:r>
              <a:t/>
            </a:r>
            <a:endParaRPr b="1" sz="1700">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Necesidad: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Prioridad: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Estabilidad: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Claridad: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Verificalidad: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Fuente: 1</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32" name="Shape 332"/>
        <p:cNvGrpSpPr/>
        <p:nvPr/>
      </p:nvGrpSpPr>
      <p:grpSpPr>
        <a:xfrm>
          <a:off x="0" y="0"/>
          <a:ext cx="0" cy="0"/>
          <a:chOff x="0" y="0"/>
          <a:chExt cx="0" cy="0"/>
        </a:xfrm>
      </p:grpSpPr>
      <p:grpSp>
        <p:nvGrpSpPr>
          <p:cNvPr id="333" name="Google Shape;333;p9"/>
          <p:cNvGrpSpPr/>
          <p:nvPr/>
        </p:nvGrpSpPr>
        <p:grpSpPr>
          <a:xfrm>
            <a:off x="-29169" y="8086615"/>
            <a:ext cx="18317169" cy="2200385"/>
            <a:chOff x="0" y="-38100"/>
            <a:chExt cx="4824275" cy="579525"/>
          </a:xfrm>
        </p:grpSpPr>
        <p:sp>
          <p:nvSpPr>
            <p:cNvPr id="334" name="Google Shape;334;p9"/>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9"/>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6" name="Google Shape;336;p9"/>
          <p:cNvSpPr txBox="1"/>
          <p:nvPr/>
        </p:nvSpPr>
        <p:spPr>
          <a:xfrm>
            <a:off x="1042879" y="1014626"/>
            <a:ext cx="14672755" cy="1570354"/>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RF02 - DIAGRAMA CASO DE USO</a:t>
            </a:r>
            <a:endParaRPr/>
          </a:p>
        </p:txBody>
      </p:sp>
      <p:grpSp>
        <p:nvGrpSpPr>
          <p:cNvPr id="337" name="Google Shape;337;p9"/>
          <p:cNvGrpSpPr/>
          <p:nvPr/>
        </p:nvGrpSpPr>
        <p:grpSpPr>
          <a:xfrm>
            <a:off x="12565518" y="-2454676"/>
            <a:ext cx="7186254" cy="7186254"/>
            <a:chOff x="0" y="0"/>
            <a:chExt cx="812800" cy="812800"/>
          </a:xfrm>
        </p:grpSpPr>
        <p:sp>
          <p:nvSpPr>
            <p:cNvPr id="338" name="Google Shape;338;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0" name="Google Shape;340;p9"/>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9"/>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9"/>
          <p:cNvSpPr/>
          <p:nvPr/>
        </p:nvSpPr>
        <p:spPr>
          <a:xfrm>
            <a:off x="1610651" y="2417642"/>
            <a:ext cx="14547994" cy="5775534"/>
          </a:xfrm>
          <a:custGeom>
            <a:rect b="b" l="l" r="r" t="t"/>
            <a:pathLst>
              <a:path extrusionOk="0" h="5775534" w="14547994">
                <a:moveTo>
                  <a:pt x="0" y="0"/>
                </a:moveTo>
                <a:lnTo>
                  <a:pt x="14547994" y="0"/>
                </a:lnTo>
                <a:lnTo>
                  <a:pt x="14547994" y="5775534"/>
                </a:lnTo>
                <a:lnTo>
                  <a:pt x="0" y="577553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9"/>
          <p:cNvSpPr txBox="1"/>
          <p:nvPr/>
        </p:nvSpPr>
        <p:spPr>
          <a:xfrm>
            <a:off x="13588555" y="7742328"/>
            <a:ext cx="2730865" cy="45084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EFFICIENCY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51" name="Shape 351"/>
        <p:cNvGrpSpPr/>
        <p:nvPr/>
      </p:nvGrpSpPr>
      <p:grpSpPr>
        <a:xfrm>
          <a:off x="0" y="0"/>
          <a:ext cx="0" cy="0"/>
          <a:chOff x="0" y="0"/>
          <a:chExt cx="0" cy="0"/>
        </a:xfrm>
      </p:grpSpPr>
      <p:grpSp>
        <p:nvGrpSpPr>
          <p:cNvPr id="352" name="Google Shape;352;p10"/>
          <p:cNvGrpSpPr/>
          <p:nvPr/>
        </p:nvGrpSpPr>
        <p:grpSpPr>
          <a:xfrm>
            <a:off x="-29169" y="8086615"/>
            <a:ext cx="18317169" cy="2200385"/>
            <a:chOff x="0" y="-38100"/>
            <a:chExt cx="4824275" cy="579525"/>
          </a:xfrm>
        </p:grpSpPr>
        <p:sp>
          <p:nvSpPr>
            <p:cNvPr id="353" name="Google Shape;353;p10"/>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10"/>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5" name="Google Shape;355;p10"/>
          <p:cNvSpPr txBox="1"/>
          <p:nvPr/>
        </p:nvSpPr>
        <p:spPr>
          <a:xfrm>
            <a:off x="1042879" y="1014626"/>
            <a:ext cx="14672755" cy="1570354"/>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RF02 - DIAGRAMA SECUENCIA</a:t>
            </a:r>
            <a:endParaRPr/>
          </a:p>
        </p:txBody>
      </p:sp>
      <p:sp>
        <p:nvSpPr>
          <p:cNvPr id="356" name="Google Shape;356;p10"/>
          <p:cNvSpPr txBox="1"/>
          <p:nvPr/>
        </p:nvSpPr>
        <p:spPr>
          <a:xfrm>
            <a:off x="13588555" y="7742328"/>
            <a:ext cx="2730865" cy="45084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EFFICIENCY</a:t>
            </a:r>
            <a:endParaRPr/>
          </a:p>
        </p:txBody>
      </p:sp>
      <p:grpSp>
        <p:nvGrpSpPr>
          <p:cNvPr id="357" name="Google Shape;357;p10"/>
          <p:cNvGrpSpPr/>
          <p:nvPr/>
        </p:nvGrpSpPr>
        <p:grpSpPr>
          <a:xfrm>
            <a:off x="12565518" y="-2454676"/>
            <a:ext cx="7186254" cy="7186254"/>
            <a:chOff x="0" y="0"/>
            <a:chExt cx="812800" cy="812800"/>
          </a:xfrm>
        </p:grpSpPr>
        <p:sp>
          <p:nvSpPr>
            <p:cNvPr id="358" name="Google Shape;358;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0" name="Google Shape;360;p10"/>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10"/>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10"/>
          <p:cNvSpPr/>
          <p:nvPr/>
        </p:nvSpPr>
        <p:spPr>
          <a:xfrm>
            <a:off x="230939" y="2595787"/>
            <a:ext cx="17826122" cy="6662513"/>
          </a:xfrm>
          <a:custGeom>
            <a:rect b="b" l="l" r="r" t="t"/>
            <a:pathLst>
              <a:path extrusionOk="0" h="6662513" w="17826122">
                <a:moveTo>
                  <a:pt x="0" y="0"/>
                </a:moveTo>
                <a:lnTo>
                  <a:pt x="17826122" y="0"/>
                </a:lnTo>
                <a:lnTo>
                  <a:pt x="17826122" y="6662513"/>
                </a:lnTo>
                <a:lnTo>
                  <a:pt x="0" y="666251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70" name="Shape 370"/>
        <p:cNvGrpSpPr/>
        <p:nvPr/>
      </p:nvGrpSpPr>
      <p:grpSpPr>
        <a:xfrm>
          <a:off x="0" y="0"/>
          <a:ext cx="0" cy="0"/>
          <a:chOff x="0" y="0"/>
          <a:chExt cx="0" cy="0"/>
        </a:xfrm>
      </p:grpSpPr>
      <p:grpSp>
        <p:nvGrpSpPr>
          <p:cNvPr id="371" name="Google Shape;371;p11"/>
          <p:cNvGrpSpPr/>
          <p:nvPr/>
        </p:nvGrpSpPr>
        <p:grpSpPr>
          <a:xfrm>
            <a:off x="-29169" y="8086615"/>
            <a:ext cx="18317169" cy="2200385"/>
            <a:chOff x="0" y="-38100"/>
            <a:chExt cx="4824275" cy="579525"/>
          </a:xfrm>
        </p:grpSpPr>
        <p:sp>
          <p:nvSpPr>
            <p:cNvPr id="372" name="Google Shape;372;p11"/>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1"/>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4" name="Google Shape;374;p11"/>
          <p:cNvSpPr txBox="1"/>
          <p:nvPr/>
        </p:nvSpPr>
        <p:spPr>
          <a:xfrm>
            <a:off x="1042879" y="1014626"/>
            <a:ext cx="14672755" cy="1570354"/>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RF02 - DIAGRAMA EXCEPCIÓN</a:t>
            </a:r>
            <a:endParaRPr/>
          </a:p>
        </p:txBody>
      </p:sp>
      <p:grpSp>
        <p:nvGrpSpPr>
          <p:cNvPr id="375" name="Google Shape;375;p11"/>
          <p:cNvGrpSpPr/>
          <p:nvPr/>
        </p:nvGrpSpPr>
        <p:grpSpPr>
          <a:xfrm>
            <a:off x="12565518" y="-2454676"/>
            <a:ext cx="7186254" cy="7186254"/>
            <a:chOff x="0" y="0"/>
            <a:chExt cx="812800" cy="812800"/>
          </a:xfrm>
        </p:grpSpPr>
        <p:sp>
          <p:nvSpPr>
            <p:cNvPr id="376" name="Google Shape;376;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8" name="Google Shape;378;p11"/>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11"/>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1"/>
          <p:cNvSpPr/>
          <p:nvPr/>
        </p:nvSpPr>
        <p:spPr>
          <a:xfrm>
            <a:off x="287903" y="2804834"/>
            <a:ext cx="17683025" cy="6454304"/>
          </a:xfrm>
          <a:custGeom>
            <a:rect b="b" l="l" r="r" t="t"/>
            <a:pathLst>
              <a:path extrusionOk="0" h="6454304" w="17683025">
                <a:moveTo>
                  <a:pt x="0" y="0"/>
                </a:moveTo>
                <a:lnTo>
                  <a:pt x="17683025" y="0"/>
                </a:lnTo>
                <a:lnTo>
                  <a:pt x="17683025" y="6454304"/>
                </a:lnTo>
                <a:lnTo>
                  <a:pt x="0" y="645430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88" name="Shape 388"/>
        <p:cNvGrpSpPr/>
        <p:nvPr/>
      </p:nvGrpSpPr>
      <p:grpSpPr>
        <a:xfrm>
          <a:off x="0" y="0"/>
          <a:ext cx="0" cy="0"/>
          <a:chOff x="0" y="0"/>
          <a:chExt cx="0" cy="0"/>
        </a:xfrm>
      </p:grpSpPr>
      <p:grpSp>
        <p:nvGrpSpPr>
          <p:cNvPr id="389" name="Google Shape;389;p12"/>
          <p:cNvGrpSpPr/>
          <p:nvPr/>
        </p:nvGrpSpPr>
        <p:grpSpPr>
          <a:xfrm>
            <a:off x="-29169" y="8086615"/>
            <a:ext cx="18317169" cy="2200385"/>
            <a:chOff x="0" y="-38100"/>
            <a:chExt cx="4824275" cy="579525"/>
          </a:xfrm>
        </p:grpSpPr>
        <p:sp>
          <p:nvSpPr>
            <p:cNvPr id="390" name="Google Shape;390;p12"/>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12"/>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92" name="Google Shape;392;p12"/>
          <p:cNvGrpSpPr/>
          <p:nvPr/>
        </p:nvGrpSpPr>
        <p:grpSpPr>
          <a:xfrm>
            <a:off x="426647" y="3094308"/>
            <a:ext cx="5058822" cy="6518695"/>
            <a:chOff x="0" y="-38100"/>
            <a:chExt cx="903815" cy="1164637"/>
          </a:xfrm>
        </p:grpSpPr>
        <p:sp>
          <p:nvSpPr>
            <p:cNvPr id="393" name="Google Shape;393;p12"/>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12"/>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95" name="Google Shape;395;p12"/>
          <p:cNvGrpSpPr/>
          <p:nvPr/>
        </p:nvGrpSpPr>
        <p:grpSpPr>
          <a:xfrm>
            <a:off x="799195" y="2496742"/>
            <a:ext cx="4313727" cy="1353005"/>
            <a:chOff x="0" y="-38100"/>
            <a:chExt cx="770695" cy="241729"/>
          </a:xfrm>
        </p:grpSpPr>
        <p:sp>
          <p:nvSpPr>
            <p:cNvPr id="396" name="Google Shape;396;p12"/>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2"/>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8" name="Google Shape;398;p12"/>
          <p:cNvSpPr txBox="1"/>
          <p:nvPr/>
        </p:nvSpPr>
        <p:spPr>
          <a:xfrm>
            <a:off x="1042879" y="1014626"/>
            <a:ext cx="7658974" cy="1570354"/>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RF19</a:t>
            </a:r>
            <a:endParaRPr/>
          </a:p>
        </p:txBody>
      </p:sp>
      <p:sp>
        <p:nvSpPr>
          <p:cNvPr id="399" name="Google Shape;399;p12"/>
          <p:cNvSpPr txBox="1"/>
          <p:nvPr/>
        </p:nvSpPr>
        <p:spPr>
          <a:xfrm>
            <a:off x="13588555" y="7742328"/>
            <a:ext cx="2730865" cy="45084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EFFICIENCY</a:t>
            </a:r>
            <a:endParaRPr/>
          </a:p>
        </p:txBody>
      </p:sp>
      <p:grpSp>
        <p:nvGrpSpPr>
          <p:cNvPr id="400" name="Google Shape;400;p12"/>
          <p:cNvGrpSpPr/>
          <p:nvPr/>
        </p:nvGrpSpPr>
        <p:grpSpPr>
          <a:xfrm>
            <a:off x="12565518" y="-2454676"/>
            <a:ext cx="7186254" cy="7186254"/>
            <a:chOff x="0" y="0"/>
            <a:chExt cx="812800" cy="812800"/>
          </a:xfrm>
        </p:grpSpPr>
        <p:sp>
          <p:nvSpPr>
            <p:cNvPr id="401" name="Google Shape;401;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3" name="Google Shape;403;p12"/>
          <p:cNvSpPr/>
          <p:nvPr/>
        </p:nvSpPr>
        <p:spPr>
          <a:xfrm rot="10800000">
            <a:off x="4620050" y="1346589"/>
            <a:ext cx="5741326" cy="668082"/>
          </a:xfrm>
          <a:custGeom>
            <a:rect b="b" l="l" r="r" t="t"/>
            <a:pathLst>
              <a:path extrusionOk="0" h="668082" w="5741326">
                <a:moveTo>
                  <a:pt x="0" y="0"/>
                </a:moveTo>
                <a:lnTo>
                  <a:pt x="5741326" y="0"/>
                </a:lnTo>
                <a:lnTo>
                  <a:pt x="5741326" y="668081"/>
                </a:lnTo>
                <a:lnTo>
                  <a:pt x="0" y="668081"/>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12"/>
          <p:cNvSpPr/>
          <p:nvPr/>
        </p:nvSpPr>
        <p:spPr>
          <a:xfrm>
            <a:off x="8996418" y="4548640"/>
            <a:ext cx="1766910" cy="594860"/>
          </a:xfrm>
          <a:custGeom>
            <a:rect b="b" l="l" r="r" t="t"/>
            <a:pathLst>
              <a:path extrusionOk="0" h="594860" w="1766910">
                <a:moveTo>
                  <a:pt x="0" y="0"/>
                </a:moveTo>
                <a:lnTo>
                  <a:pt x="1766910" y="0"/>
                </a:lnTo>
                <a:lnTo>
                  <a:pt x="1766910" y="594860"/>
                </a:lnTo>
                <a:lnTo>
                  <a:pt x="0" y="59486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12"/>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06" name="Google Shape;406;p12"/>
          <p:cNvGrpSpPr/>
          <p:nvPr/>
        </p:nvGrpSpPr>
        <p:grpSpPr>
          <a:xfrm>
            <a:off x="11299775" y="3094308"/>
            <a:ext cx="6324565" cy="6518695"/>
            <a:chOff x="0" y="-38100"/>
            <a:chExt cx="1129954" cy="1164637"/>
          </a:xfrm>
        </p:grpSpPr>
        <p:sp>
          <p:nvSpPr>
            <p:cNvPr id="407" name="Google Shape;407;p12"/>
            <p:cNvSpPr/>
            <p:nvPr/>
          </p:nvSpPr>
          <p:spPr>
            <a:xfrm>
              <a:off x="0" y="0"/>
              <a:ext cx="1129954" cy="1126537"/>
            </a:xfrm>
            <a:custGeom>
              <a:rect b="b" l="l" r="r" t="t"/>
              <a:pathLst>
                <a:path extrusionOk="0" h="1126537" w="1129954">
                  <a:moveTo>
                    <a:pt x="0" y="0"/>
                  </a:moveTo>
                  <a:lnTo>
                    <a:pt x="1129954" y="0"/>
                  </a:lnTo>
                  <a:lnTo>
                    <a:pt x="1129954"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2"/>
            <p:cNvSpPr txBox="1"/>
            <p:nvPr/>
          </p:nvSpPr>
          <p:spPr>
            <a:xfrm>
              <a:off x="0" y="-38100"/>
              <a:ext cx="1129954"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09" name="Google Shape;409;p12"/>
          <p:cNvGrpSpPr/>
          <p:nvPr/>
        </p:nvGrpSpPr>
        <p:grpSpPr>
          <a:xfrm>
            <a:off x="11674508" y="2496742"/>
            <a:ext cx="5577284" cy="1353005"/>
            <a:chOff x="0" y="-38100"/>
            <a:chExt cx="996444" cy="241729"/>
          </a:xfrm>
        </p:grpSpPr>
        <p:sp>
          <p:nvSpPr>
            <p:cNvPr id="410" name="Google Shape;410;p12"/>
            <p:cNvSpPr/>
            <p:nvPr/>
          </p:nvSpPr>
          <p:spPr>
            <a:xfrm>
              <a:off x="0" y="0"/>
              <a:ext cx="996444" cy="203629"/>
            </a:xfrm>
            <a:custGeom>
              <a:rect b="b" l="l" r="r" t="t"/>
              <a:pathLst>
                <a:path extrusionOk="0" h="203629" w="996444">
                  <a:moveTo>
                    <a:pt x="0" y="0"/>
                  </a:moveTo>
                  <a:lnTo>
                    <a:pt x="996444" y="0"/>
                  </a:lnTo>
                  <a:lnTo>
                    <a:pt x="996444"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12"/>
            <p:cNvSpPr txBox="1"/>
            <p:nvPr/>
          </p:nvSpPr>
          <p:spPr>
            <a:xfrm>
              <a:off x="0" y="-38100"/>
              <a:ext cx="996444"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2" name="Google Shape;412;p12"/>
          <p:cNvGrpSpPr/>
          <p:nvPr/>
        </p:nvGrpSpPr>
        <p:grpSpPr>
          <a:xfrm>
            <a:off x="5863211" y="3094308"/>
            <a:ext cx="5058822" cy="6518695"/>
            <a:chOff x="0" y="-38100"/>
            <a:chExt cx="903815" cy="1164637"/>
          </a:xfrm>
        </p:grpSpPr>
        <p:sp>
          <p:nvSpPr>
            <p:cNvPr id="413" name="Google Shape;413;p12"/>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12"/>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5" name="Google Shape;415;p12"/>
          <p:cNvGrpSpPr/>
          <p:nvPr/>
        </p:nvGrpSpPr>
        <p:grpSpPr>
          <a:xfrm>
            <a:off x="6235759" y="2496742"/>
            <a:ext cx="4313727" cy="1353005"/>
            <a:chOff x="0" y="-38100"/>
            <a:chExt cx="770695" cy="241729"/>
          </a:xfrm>
        </p:grpSpPr>
        <p:sp>
          <p:nvSpPr>
            <p:cNvPr id="416" name="Google Shape;416;p12"/>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12"/>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8" name="Google Shape;418;p12"/>
          <p:cNvSpPr/>
          <p:nvPr/>
        </p:nvSpPr>
        <p:spPr>
          <a:xfrm>
            <a:off x="11525829" y="3849747"/>
            <a:ext cx="5832274" cy="5727458"/>
          </a:xfrm>
          <a:custGeom>
            <a:rect b="b" l="l" r="r" t="t"/>
            <a:pathLst>
              <a:path extrusionOk="0" h="5727458" w="5832274">
                <a:moveTo>
                  <a:pt x="0" y="0"/>
                </a:moveTo>
                <a:lnTo>
                  <a:pt x="5832274" y="0"/>
                </a:lnTo>
                <a:lnTo>
                  <a:pt x="5832274" y="5727458"/>
                </a:lnTo>
                <a:lnTo>
                  <a:pt x="0" y="57274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2"/>
          <p:cNvSpPr txBox="1"/>
          <p:nvPr/>
        </p:nvSpPr>
        <p:spPr>
          <a:xfrm>
            <a:off x="1087200" y="2917116"/>
            <a:ext cx="4025722" cy="666590"/>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1" lang="en-US" sz="3685">
                <a:solidFill>
                  <a:srgbClr val="FFFFFF"/>
                </a:solidFill>
                <a:latin typeface="Poppins Black"/>
                <a:ea typeface="Poppins Black"/>
                <a:cs typeface="Poppins Black"/>
                <a:sym typeface="Poppins Black"/>
              </a:rPr>
              <a:t>REQUERIMIENTO</a:t>
            </a:r>
            <a:endParaRPr/>
          </a:p>
        </p:txBody>
      </p:sp>
      <p:sp>
        <p:nvSpPr>
          <p:cNvPr id="420" name="Google Shape;420;p12"/>
          <p:cNvSpPr txBox="1"/>
          <p:nvPr/>
        </p:nvSpPr>
        <p:spPr>
          <a:xfrm>
            <a:off x="11525829" y="770766"/>
            <a:ext cx="5212638" cy="1746248"/>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500">
                <a:solidFill>
                  <a:srgbClr val="545454"/>
                </a:solidFill>
                <a:latin typeface="Inter Medium"/>
                <a:ea typeface="Inter Medium"/>
                <a:cs typeface="Inter Medium"/>
                <a:sym typeface="Inter Medium"/>
              </a:rPr>
              <a:t>Aplicación manual de descuentos monetarios al valor total de venta.</a:t>
            </a:r>
            <a:endParaRPr/>
          </a:p>
          <a:p>
            <a:pPr indent="0" lvl="0" marL="0" marR="0" rtl="0" algn="just">
              <a:lnSpc>
                <a:spcPct val="140000"/>
              </a:lnSpc>
              <a:spcBef>
                <a:spcPts val="0"/>
              </a:spcBef>
              <a:spcAft>
                <a:spcPts val="0"/>
              </a:spcAft>
              <a:buNone/>
            </a:pPr>
            <a:r>
              <a:rPr b="1" lang="en-US" sz="2500">
                <a:solidFill>
                  <a:srgbClr val="545454"/>
                </a:solidFill>
                <a:latin typeface="Inter Medium"/>
                <a:ea typeface="Inter Medium"/>
                <a:cs typeface="Inter Medium"/>
                <a:sym typeface="Inter Medium"/>
              </a:rPr>
              <a:t>Corresponde al UR 2.15</a:t>
            </a:r>
            <a:endParaRPr/>
          </a:p>
          <a:p>
            <a:pPr indent="0" lvl="0" marL="0" marR="0" rtl="0" algn="just">
              <a:lnSpc>
                <a:spcPct val="140000"/>
              </a:lnSpc>
              <a:spcBef>
                <a:spcPts val="0"/>
              </a:spcBef>
              <a:spcAft>
                <a:spcPts val="0"/>
              </a:spcAft>
              <a:buNone/>
            </a:pPr>
            <a:r>
              <a:t/>
            </a:r>
            <a:endParaRPr b="1" sz="2500">
              <a:solidFill>
                <a:srgbClr val="545454"/>
              </a:solidFill>
              <a:latin typeface="Inter Medium"/>
              <a:ea typeface="Inter Medium"/>
              <a:cs typeface="Inter Medium"/>
              <a:sym typeface="Inter Medium"/>
            </a:endParaRPr>
          </a:p>
        </p:txBody>
      </p:sp>
      <p:sp>
        <p:nvSpPr>
          <p:cNvPr id="421" name="Google Shape;421;p12"/>
          <p:cNvSpPr txBox="1"/>
          <p:nvPr/>
        </p:nvSpPr>
        <p:spPr>
          <a:xfrm>
            <a:off x="11674508" y="2917116"/>
            <a:ext cx="5577284" cy="66838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lang="en-US" sz="3685">
                <a:solidFill>
                  <a:srgbClr val="FFFFFF"/>
                </a:solidFill>
                <a:latin typeface="Poppins Black"/>
                <a:ea typeface="Poppins Black"/>
                <a:cs typeface="Poppins Black"/>
                <a:sym typeface="Poppins Black"/>
              </a:rPr>
              <a:t>CASO DE USO</a:t>
            </a:r>
            <a:endParaRPr/>
          </a:p>
        </p:txBody>
      </p:sp>
      <p:sp>
        <p:nvSpPr>
          <p:cNvPr id="422" name="Google Shape;422;p12"/>
          <p:cNvSpPr txBox="1"/>
          <p:nvPr/>
        </p:nvSpPr>
        <p:spPr>
          <a:xfrm>
            <a:off x="6523764" y="2917116"/>
            <a:ext cx="4025722" cy="668389"/>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1" lang="en-US" sz="3685">
                <a:solidFill>
                  <a:srgbClr val="FFFFFF"/>
                </a:solidFill>
                <a:latin typeface="Poppins Black"/>
                <a:ea typeface="Poppins Black"/>
                <a:cs typeface="Poppins Black"/>
                <a:sym typeface="Poppins Black"/>
              </a:rPr>
              <a:t>UR 2.15</a:t>
            </a:r>
            <a:endParaRPr/>
          </a:p>
        </p:txBody>
      </p:sp>
      <p:sp>
        <p:nvSpPr>
          <p:cNvPr id="423" name="Google Shape;423;p12"/>
          <p:cNvSpPr txBox="1"/>
          <p:nvPr/>
        </p:nvSpPr>
        <p:spPr>
          <a:xfrm>
            <a:off x="426647" y="3935472"/>
            <a:ext cx="4998414" cy="238433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El formulario de creación y edición de Notas de Venta debe incorporar una funcionalidad opcional destinada al ingreso de rebajas comerciales sobre el valor total de la transacción. </a:t>
            </a:r>
            <a:endParaRPr/>
          </a:p>
          <a:p>
            <a:pPr indent="0" lvl="0" marL="0" marR="0" rtl="0" algn="just">
              <a:lnSpc>
                <a:spcPct val="140000"/>
              </a:lnSpc>
              <a:spcBef>
                <a:spcPts val="0"/>
              </a:spcBef>
              <a:spcAft>
                <a:spcPts val="0"/>
              </a:spcAft>
              <a:buNone/>
            </a:pPr>
            <a:r>
              <a:t/>
            </a:r>
            <a:endParaRPr b="1" sz="1700">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None/>
            </a:pPr>
            <a:r>
              <a:t/>
            </a:r>
            <a:endParaRPr b="1" sz="1700">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None/>
            </a:pPr>
            <a:r>
              <a:t/>
            </a:r>
            <a:endParaRPr b="1" sz="1700">
              <a:solidFill>
                <a:srgbClr val="FFFFFF"/>
              </a:solidFill>
              <a:latin typeface="Inter Medium"/>
              <a:ea typeface="Inter Medium"/>
              <a:cs typeface="Inter Medium"/>
              <a:sym typeface="Inter Medium"/>
            </a:endParaRPr>
          </a:p>
        </p:txBody>
      </p:sp>
      <p:sp>
        <p:nvSpPr>
          <p:cNvPr id="424" name="Google Shape;424;p12"/>
          <p:cNvSpPr txBox="1"/>
          <p:nvPr/>
        </p:nvSpPr>
        <p:spPr>
          <a:xfrm>
            <a:off x="6235759" y="3935472"/>
            <a:ext cx="4313727" cy="3297371"/>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Como usuario de finanzas, quiero aplicar descuentos en monto o porcentaje a una venta para ajustar el valor final de la transacción.</a:t>
            </a:r>
            <a:endParaRPr/>
          </a:p>
          <a:p>
            <a:pPr indent="0" lvl="0" marL="0" marR="0" rtl="0" algn="just">
              <a:lnSpc>
                <a:spcPct val="140000"/>
              </a:lnSpc>
              <a:spcBef>
                <a:spcPts val="0"/>
              </a:spcBef>
              <a:spcAft>
                <a:spcPts val="0"/>
              </a:spcAft>
              <a:buNone/>
            </a:pPr>
            <a:r>
              <a:t/>
            </a:r>
            <a:endParaRPr b="1" sz="1700">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Necesidad: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Prioridad: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Estabilidad: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Claridad: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Verificalidad: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Fuente: 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32" name="Shape 432"/>
        <p:cNvGrpSpPr/>
        <p:nvPr/>
      </p:nvGrpSpPr>
      <p:grpSpPr>
        <a:xfrm>
          <a:off x="0" y="0"/>
          <a:ext cx="0" cy="0"/>
          <a:chOff x="0" y="0"/>
          <a:chExt cx="0" cy="0"/>
        </a:xfrm>
      </p:grpSpPr>
      <p:grpSp>
        <p:nvGrpSpPr>
          <p:cNvPr id="433" name="Google Shape;433;p13"/>
          <p:cNvGrpSpPr/>
          <p:nvPr/>
        </p:nvGrpSpPr>
        <p:grpSpPr>
          <a:xfrm>
            <a:off x="12565518" y="-2454676"/>
            <a:ext cx="7186254" cy="7186254"/>
            <a:chOff x="0" y="0"/>
            <a:chExt cx="812800" cy="812800"/>
          </a:xfrm>
        </p:grpSpPr>
        <p:sp>
          <p:nvSpPr>
            <p:cNvPr id="434" name="Google Shape;434;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6" name="Google Shape;436;p13"/>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13"/>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38" name="Google Shape;438;p13"/>
          <p:cNvGrpSpPr/>
          <p:nvPr/>
        </p:nvGrpSpPr>
        <p:grpSpPr>
          <a:xfrm>
            <a:off x="15705644" y="1606448"/>
            <a:ext cx="234493" cy="8374261"/>
            <a:chOff x="0" y="-38100"/>
            <a:chExt cx="61760" cy="2205567"/>
          </a:xfrm>
        </p:grpSpPr>
        <p:sp>
          <p:nvSpPr>
            <p:cNvPr id="439" name="Google Shape;439;p13"/>
            <p:cNvSpPr/>
            <p:nvPr/>
          </p:nvSpPr>
          <p:spPr>
            <a:xfrm>
              <a:off x="0" y="0"/>
              <a:ext cx="61760" cy="2167467"/>
            </a:xfrm>
            <a:custGeom>
              <a:rect b="b" l="l" r="r" t="t"/>
              <a:pathLst>
                <a:path extrusionOk="0" h="2167467" w="61760">
                  <a:moveTo>
                    <a:pt x="0" y="0"/>
                  </a:moveTo>
                  <a:lnTo>
                    <a:pt x="61760" y="0"/>
                  </a:lnTo>
                  <a:lnTo>
                    <a:pt x="61760" y="2167467"/>
                  </a:lnTo>
                  <a:lnTo>
                    <a:pt x="0" y="216746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13"/>
            <p:cNvSpPr txBox="1"/>
            <p:nvPr/>
          </p:nvSpPr>
          <p:spPr>
            <a:xfrm>
              <a:off x="0" y="-38100"/>
              <a:ext cx="61760" cy="220556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1" name="Google Shape;441;p13"/>
          <p:cNvGrpSpPr/>
          <p:nvPr/>
        </p:nvGrpSpPr>
        <p:grpSpPr>
          <a:xfrm>
            <a:off x="-231633" y="-1921513"/>
            <a:ext cx="3860075" cy="3860075"/>
            <a:chOff x="0" y="0"/>
            <a:chExt cx="812800" cy="812800"/>
          </a:xfrm>
        </p:grpSpPr>
        <p:sp>
          <p:nvSpPr>
            <p:cNvPr id="442" name="Google Shape;442;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4" name="Google Shape;444;p13"/>
          <p:cNvGrpSpPr/>
          <p:nvPr/>
        </p:nvGrpSpPr>
        <p:grpSpPr>
          <a:xfrm>
            <a:off x="-450373" y="-348365"/>
            <a:ext cx="2148777" cy="10635365"/>
            <a:chOff x="0" y="-38100"/>
            <a:chExt cx="229394" cy="1135384"/>
          </a:xfrm>
        </p:grpSpPr>
        <p:sp>
          <p:nvSpPr>
            <p:cNvPr id="445" name="Google Shape;445;p13"/>
            <p:cNvSpPr/>
            <p:nvPr/>
          </p:nvSpPr>
          <p:spPr>
            <a:xfrm>
              <a:off x="0" y="0"/>
              <a:ext cx="229394" cy="1097284"/>
            </a:xfrm>
            <a:custGeom>
              <a:rect b="b" l="l" r="r" t="t"/>
              <a:pathLst>
                <a:path extrusionOk="0" h="1097284" w="229394">
                  <a:moveTo>
                    <a:pt x="0" y="0"/>
                  </a:moveTo>
                  <a:lnTo>
                    <a:pt x="229394" y="0"/>
                  </a:lnTo>
                  <a:lnTo>
                    <a:pt x="229394" y="1097284"/>
                  </a:lnTo>
                  <a:lnTo>
                    <a:pt x="0" y="1097284"/>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13"/>
            <p:cNvSpPr txBox="1"/>
            <p:nvPr/>
          </p:nvSpPr>
          <p:spPr>
            <a:xfrm>
              <a:off x="0" y="-38100"/>
              <a:ext cx="229394" cy="113538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7" name="Google Shape;447;p13"/>
          <p:cNvGrpSpPr/>
          <p:nvPr/>
        </p:nvGrpSpPr>
        <p:grpSpPr>
          <a:xfrm>
            <a:off x="9547785" y="7287542"/>
            <a:ext cx="5386334" cy="5386334"/>
            <a:chOff x="0" y="0"/>
            <a:chExt cx="812800" cy="812800"/>
          </a:xfrm>
        </p:grpSpPr>
        <p:sp>
          <p:nvSpPr>
            <p:cNvPr id="448" name="Google Shape;448;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0" name="Google Shape;450;p13"/>
          <p:cNvSpPr/>
          <p:nvPr/>
        </p:nvSpPr>
        <p:spPr>
          <a:xfrm>
            <a:off x="7008815" y="190500"/>
            <a:ext cx="8858043" cy="10274174"/>
          </a:xfrm>
          <a:custGeom>
            <a:rect b="b" l="l" r="r" t="t"/>
            <a:pathLst>
              <a:path extrusionOk="0" h="10274174" w="8858043">
                <a:moveTo>
                  <a:pt x="0" y="0"/>
                </a:moveTo>
                <a:lnTo>
                  <a:pt x="8858044" y="0"/>
                </a:lnTo>
                <a:lnTo>
                  <a:pt x="8858044" y="10274174"/>
                </a:lnTo>
                <a:lnTo>
                  <a:pt x="0" y="1027417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13"/>
          <p:cNvSpPr txBox="1"/>
          <p:nvPr/>
        </p:nvSpPr>
        <p:spPr>
          <a:xfrm>
            <a:off x="1869033" y="797981"/>
            <a:ext cx="5386074" cy="5656579"/>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RF19 - DIAGRAMA CASO DE USO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59" name="Shape 459"/>
        <p:cNvGrpSpPr/>
        <p:nvPr/>
      </p:nvGrpSpPr>
      <p:grpSpPr>
        <a:xfrm>
          <a:off x="0" y="0"/>
          <a:ext cx="0" cy="0"/>
          <a:chOff x="0" y="0"/>
          <a:chExt cx="0" cy="0"/>
        </a:xfrm>
      </p:grpSpPr>
      <p:grpSp>
        <p:nvGrpSpPr>
          <p:cNvPr id="460" name="Google Shape;460;p14"/>
          <p:cNvGrpSpPr/>
          <p:nvPr/>
        </p:nvGrpSpPr>
        <p:grpSpPr>
          <a:xfrm>
            <a:off x="-29169" y="8293630"/>
            <a:ext cx="18317169" cy="1993370"/>
            <a:chOff x="0" y="-38100"/>
            <a:chExt cx="4824275" cy="525003"/>
          </a:xfrm>
        </p:grpSpPr>
        <p:sp>
          <p:nvSpPr>
            <p:cNvPr id="461" name="Google Shape;461;p14"/>
            <p:cNvSpPr/>
            <p:nvPr/>
          </p:nvSpPr>
          <p:spPr>
            <a:xfrm>
              <a:off x="0" y="0"/>
              <a:ext cx="4824275" cy="486903"/>
            </a:xfrm>
            <a:custGeom>
              <a:rect b="b" l="l" r="r" t="t"/>
              <a:pathLst>
                <a:path extrusionOk="0" h="486903" w="4824275">
                  <a:moveTo>
                    <a:pt x="0" y="0"/>
                  </a:moveTo>
                  <a:lnTo>
                    <a:pt x="4824275" y="0"/>
                  </a:lnTo>
                  <a:lnTo>
                    <a:pt x="4824275" y="486903"/>
                  </a:lnTo>
                  <a:lnTo>
                    <a:pt x="0" y="486903"/>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14"/>
            <p:cNvSpPr txBox="1"/>
            <p:nvPr/>
          </p:nvSpPr>
          <p:spPr>
            <a:xfrm>
              <a:off x="0" y="-38100"/>
              <a:ext cx="4824275" cy="525003"/>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3" name="Google Shape;463;p14"/>
          <p:cNvSpPr txBox="1"/>
          <p:nvPr/>
        </p:nvSpPr>
        <p:spPr>
          <a:xfrm>
            <a:off x="1042879" y="1014626"/>
            <a:ext cx="14672755" cy="1570354"/>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RF19 - DIAGRAMA SECUENCIA</a:t>
            </a:r>
            <a:endParaRPr/>
          </a:p>
        </p:txBody>
      </p:sp>
      <p:grpSp>
        <p:nvGrpSpPr>
          <p:cNvPr id="464" name="Google Shape;464;p14"/>
          <p:cNvGrpSpPr/>
          <p:nvPr/>
        </p:nvGrpSpPr>
        <p:grpSpPr>
          <a:xfrm>
            <a:off x="13202488" y="-2972048"/>
            <a:ext cx="7186254" cy="7186254"/>
            <a:chOff x="0" y="0"/>
            <a:chExt cx="812800" cy="812800"/>
          </a:xfrm>
        </p:grpSpPr>
        <p:sp>
          <p:nvSpPr>
            <p:cNvPr id="465" name="Google Shape;465;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7" name="Google Shape;467;p14"/>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14"/>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14"/>
          <p:cNvSpPr/>
          <p:nvPr/>
        </p:nvSpPr>
        <p:spPr>
          <a:xfrm>
            <a:off x="992556" y="2391546"/>
            <a:ext cx="16302889" cy="6867592"/>
          </a:xfrm>
          <a:custGeom>
            <a:rect b="b" l="l" r="r" t="t"/>
            <a:pathLst>
              <a:path extrusionOk="0" h="6867592" w="16302889">
                <a:moveTo>
                  <a:pt x="0" y="0"/>
                </a:moveTo>
                <a:lnTo>
                  <a:pt x="16302888" y="0"/>
                </a:lnTo>
                <a:lnTo>
                  <a:pt x="16302888" y="6867592"/>
                </a:lnTo>
                <a:lnTo>
                  <a:pt x="0" y="686759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77" name="Shape 477"/>
        <p:cNvGrpSpPr/>
        <p:nvPr/>
      </p:nvGrpSpPr>
      <p:grpSpPr>
        <a:xfrm>
          <a:off x="0" y="0"/>
          <a:ext cx="0" cy="0"/>
          <a:chOff x="0" y="0"/>
          <a:chExt cx="0" cy="0"/>
        </a:xfrm>
      </p:grpSpPr>
      <p:grpSp>
        <p:nvGrpSpPr>
          <p:cNvPr id="478" name="Google Shape;478;p15"/>
          <p:cNvGrpSpPr/>
          <p:nvPr/>
        </p:nvGrpSpPr>
        <p:grpSpPr>
          <a:xfrm>
            <a:off x="-29169" y="8086615"/>
            <a:ext cx="18317169" cy="2200385"/>
            <a:chOff x="0" y="-38100"/>
            <a:chExt cx="4824275" cy="579525"/>
          </a:xfrm>
        </p:grpSpPr>
        <p:sp>
          <p:nvSpPr>
            <p:cNvPr id="479" name="Google Shape;479;p15"/>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15"/>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1" name="Google Shape;481;p15"/>
          <p:cNvSpPr txBox="1"/>
          <p:nvPr/>
        </p:nvSpPr>
        <p:spPr>
          <a:xfrm>
            <a:off x="1042879" y="1014626"/>
            <a:ext cx="14672755" cy="1570354"/>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RF19 - DIAGRAMA EXCEPCIÓN 1</a:t>
            </a:r>
            <a:endParaRPr/>
          </a:p>
        </p:txBody>
      </p:sp>
      <p:grpSp>
        <p:nvGrpSpPr>
          <p:cNvPr id="482" name="Google Shape;482;p15"/>
          <p:cNvGrpSpPr/>
          <p:nvPr/>
        </p:nvGrpSpPr>
        <p:grpSpPr>
          <a:xfrm>
            <a:off x="12565518" y="-2454676"/>
            <a:ext cx="7186254" cy="7186254"/>
            <a:chOff x="0" y="0"/>
            <a:chExt cx="812800" cy="812800"/>
          </a:xfrm>
        </p:grpSpPr>
        <p:sp>
          <p:nvSpPr>
            <p:cNvPr id="483" name="Google Shape;483;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5" name="Google Shape;485;p15"/>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15"/>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15"/>
          <p:cNvSpPr/>
          <p:nvPr/>
        </p:nvSpPr>
        <p:spPr>
          <a:xfrm>
            <a:off x="1159916" y="2328441"/>
            <a:ext cx="15968169" cy="6706631"/>
          </a:xfrm>
          <a:custGeom>
            <a:rect b="b" l="l" r="r" t="t"/>
            <a:pathLst>
              <a:path extrusionOk="0" h="6706631" w="15968169">
                <a:moveTo>
                  <a:pt x="0" y="0"/>
                </a:moveTo>
                <a:lnTo>
                  <a:pt x="15968168" y="0"/>
                </a:lnTo>
                <a:lnTo>
                  <a:pt x="15968168" y="6706631"/>
                </a:lnTo>
                <a:lnTo>
                  <a:pt x="0" y="670663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95" name="Shape 495"/>
        <p:cNvGrpSpPr/>
        <p:nvPr/>
      </p:nvGrpSpPr>
      <p:grpSpPr>
        <a:xfrm>
          <a:off x="0" y="0"/>
          <a:ext cx="0" cy="0"/>
          <a:chOff x="0" y="0"/>
          <a:chExt cx="0" cy="0"/>
        </a:xfrm>
      </p:grpSpPr>
      <p:grpSp>
        <p:nvGrpSpPr>
          <p:cNvPr id="496" name="Google Shape;496;p16"/>
          <p:cNvGrpSpPr/>
          <p:nvPr/>
        </p:nvGrpSpPr>
        <p:grpSpPr>
          <a:xfrm>
            <a:off x="-29169" y="8086615"/>
            <a:ext cx="18317169" cy="2200385"/>
            <a:chOff x="0" y="-38100"/>
            <a:chExt cx="4824275" cy="579525"/>
          </a:xfrm>
        </p:grpSpPr>
        <p:sp>
          <p:nvSpPr>
            <p:cNvPr id="497" name="Google Shape;497;p16"/>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16"/>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9" name="Google Shape;499;p16"/>
          <p:cNvSpPr txBox="1"/>
          <p:nvPr/>
        </p:nvSpPr>
        <p:spPr>
          <a:xfrm>
            <a:off x="1042879" y="1014626"/>
            <a:ext cx="14672755" cy="1570354"/>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RF19 - DIAGRAMA EXCEPCIÓN 2</a:t>
            </a:r>
            <a:endParaRPr/>
          </a:p>
        </p:txBody>
      </p:sp>
      <p:grpSp>
        <p:nvGrpSpPr>
          <p:cNvPr id="500" name="Google Shape;500;p16"/>
          <p:cNvGrpSpPr/>
          <p:nvPr/>
        </p:nvGrpSpPr>
        <p:grpSpPr>
          <a:xfrm>
            <a:off x="12565518" y="-2454676"/>
            <a:ext cx="7186254" cy="7186254"/>
            <a:chOff x="0" y="0"/>
            <a:chExt cx="812800" cy="812800"/>
          </a:xfrm>
        </p:grpSpPr>
        <p:sp>
          <p:nvSpPr>
            <p:cNvPr id="501" name="Google Shape;501;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3" name="Google Shape;503;p16"/>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16"/>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16"/>
          <p:cNvSpPr/>
          <p:nvPr/>
        </p:nvSpPr>
        <p:spPr>
          <a:xfrm>
            <a:off x="1429632" y="2584980"/>
            <a:ext cx="15428736" cy="6518641"/>
          </a:xfrm>
          <a:custGeom>
            <a:rect b="b" l="l" r="r" t="t"/>
            <a:pathLst>
              <a:path extrusionOk="0" h="6518641" w="15428736">
                <a:moveTo>
                  <a:pt x="0" y="0"/>
                </a:moveTo>
                <a:lnTo>
                  <a:pt x="15428736" y="0"/>
                </a:lnTo>
                <a:lnTo>
                  <a:pt x="15428736" y="6518641"/>
                </a:lnTo>
                <a:lnTo>
                  <a:pt x="0" y="651864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16"/>
          <p:cNvSpPr txBox="1"/>
          <p:nvPr/>
        </p:nvSpPr>
        <p:spPr>
          <a:xfrm>
            <a:off x="13588555" y="7742328"/>
            <a:ext cx="2730865" cy="45084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EFFICIENCY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514" name="Shape 514"/>
        <p:cNvGrpSpPr/>
        <p:nvPr/>
      </p:nvGrpSpPr>
      <p:grpSpPr>
        <a:xfrm>
          <a:off x="0" y="0"/>
          <a:ext cx="0" cy="0"/>
          <a:chOff x="0" y="0"/>
          <a:chExt cx="0" cy="0"/>
        </a:xfrm>
      </p:grpSpPr>
      <p:grpSp>
        <p:nvGrpSpPr>
          <p:cNvPr id="515" name="Google Shape;515;p17"/>
          <p:cNvGrpSpPr/>
          <p:nvPr/>
        </p:nvGrpSpPr>
        <p:grpSpPr>
          <a:xfrm>
            <a:off x="3244373" y="841107"/>
            <a:ext cx="3706184" cy="9445893"/>
            <a:chOff x="0" y="-38100"/>
            <a:chExt cx="752722" cy="1918450"/>
          </a:xfrm>
        </p:grpSpPr>
        <p:sp>
          <p:nvSpPr>
            <p:cNvPr id="516" name="Google Shape;516;p17"/>
            <p:cNvSpPr/>
            <p:nvPr/>
          </p:nvSpPr>
          <p:spPr>
            <a:xfrm>
              <a:off x="0" y="0"/>
              <a:ext cx="752722" cy="1880350"/>
            </a:xfrm>
            <a:custGeom>
              <a:rect b="b" l="l" r="r" t="t"/>
              <a:pathLst>
                <a:path extrusionOk="0" h="1880350" w="752722">
                  <a:moveTo>
                    <a:pt x="0" y="0"/>
                  </a:moveTo>
                  <a:lnTo>
                    <a:pt x="752722" y="0"/>
                  </a:lnTo>
                  <a:lnTo>
                    <a:pt x="752722" y="1880350"/>
                  </a:lnTo>
                  <a:lnTo>
                    <a:pt x="0" y="1880350"/>
                  </a:ln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17"/>
            <p:cNvSpPr txBox="1"/>
            <p:nvPr/>
          </p:nvSpPr>
          <p:spPr>
            <a:xfrm>
              <a:off x="0" y="-38100"/>
              <a:ext cx="752722" cy="191845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18" name="Google Shape;518;p17"/>
          <p:cNvGrpSpPr/>
          <p:nvPr/>
        </p:nvGrpSpPr>
        <p:grpSpPr>
          <a:xfrm>
            <a:off x="2257416" y="1685931"/>
            <a:ext cx="12789840" cy="7633559"/>
            <a:chOff x="0" y="-38100"/>
            <a:chExt cx="3368518" cy="2010485"/>
          </a:xfrm>
        </p:grpSpPr>
        <p:sp>
          <p:nvSpPr>
            <p:cNvPr id="519" name="Google Shape;519;p17"/>
            <p:cNvSpPr/>
            <p:nvPr/>
          </p:nvSpPr>
          <p:spPr>
            <a:xfrm>
              <a:off x="0" y="0"/>
              <a:ext cx="3368518" cy="1972385"/>
            </a:xfrm>
            <a:custGeom>
              <a:rect b="b" l="l" r="r" t="t"/>
              <a:pathLst>
                <a:path extrusionOk="0" h="1972385" w="3368518">
                  <a:moveTo>
                    <a:pt x="0" y="0"/>
                  </a:moveTo>
                  <a:lnTo>
                    <a:pt x="3368518" y="0"/>
                  </a:lnTo>
                  <a:lnTo>
                    <a:pt x="3368518" y="1972385"/>
                  </a:lnTo>
                  <a:lnTo>
                    <a:pt x="0" y="1972385"/>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17"/>
            <p:cNvSpPr txBox="1"/>
            <p:nvPr/>
          </p:nvSpPr>
          <p:spPr>
            <a:xfrm>
              <a:off x="0" y="-38100"/>
              <a:ext cx="3368518" cy="201048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21" name="Google Shape;521;p17"/>
          <p:cNvGrpSpPr/>
          <p:nvPr/>
        </p:nvGrpSpPr>
        <p:grpSpPr>
          <a:xfrm>
            <a:off x="16021065" y="8467047"/>
            <a:ext cx="4001993" cy="4001993"/>
            <a:chOff x="0" y="0"/>
            <a:chExt cx="812800" cy="812800"/>
          </a:xfrm>
        </p:grpSpPr>
        <p:sp>
          <p:nvSpPr>
            <p:cNvPr id="522" name="Google Shape;522;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4" name="Google Shape;524;p17"/>
          <p:cNvSpPr/>
          <p:nvPr/>
        </p:nvSpPr>
        <p:spPr>
          <a:xfrm rot="-5400000">
            <a:off x="16434244" y="8604381"/>
            <a:ext cx="219896" cy="1430217"/>
          </a:xfrm>
          <a:custGeom>
            <a:rect b="b" l="l" r="r" t="t"/>
            <a:pathLst>
              <a:path extrusionOk="0" h="1430217" w="219896">
                <a:moveTo>
                  <a:pt x="0" y="0"/>
                </a:moveTo>
                <a:lnTo>
                  <a:pt x="219895" y="0"/>
                </a:lnTo>
                <a:lnTo>
                  <a:pt x="219895"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17"/>
          <p:cNvSpPr/>
          <p:nvPr/>
        </p:nvSpPr>
        <p:spPr>
          <a:xfrm>
            <a:off x="1028700" y="1028700"/>
            <a:ext cx="1088196" cy="1088196"/>
          </a:xfrm>
          <a:custGeom>
            <a:rect b="b" l="l" r="r" t="t"/>
            <a:pathLst>
              <a:path extrusionOk="0" h="1088196" w="1088196">
                <a:moveTo>
                  <a:pt x="0" y="0"/>
                </a:moveTo>
                <a:lnTo>
                  <a:pt x="1088196" y="0"/>
                </a:lnTo>
                <a:lnTo>
                  <a:pt x="1088196" y="1088196"/>
                </a:lnTo>
                <a:lnTo>
                  <a:pt x="0" y="1088196"/>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17"/>
          <p:cNvSpPr txBox="1"/>
          <p:nvPr/>
        </p:nvSpPr>
        <p:spPr>
          <a:xfrm>
            <a:off x="9673874" y="260250"/>
            <a:ext cx="7857600" cy="1462200"/>
          </a:xfrm>
          <a:prstGeom prst="rect">
            <a:avLst/>
          </a:prstGeom>
          <a:noFill/>
          <a:ln>
            <a:noFill/>
          </a:ln>
        </p:spPr>
        <p:txBody>
          <a:bodyPr anchorCtr="0" anchor="t" bIns="0" lIns="0" spcFirstLastPara="1" rIns="0" wrap="square" tIns="0">
            <a:spAutoFit/>
          </a:bodyPr>
          <a:lstStyle/>
          <a:p>
            <a:pPr indent="0" lvl="0" marL="0" marR="0" rtl="0" algn="r">
              <a:lnSpc>
                <a:spcPct val="113001"/>
              </a:lnSpc>
              <a:spcBef>
                <a:spcPts val="0"/>
              </a:spcBef>
              <a:spcAft>
                <a:spcPts val="0"/>
              </a:spcAft>
              <a:buNone/>
            </a:pPr>
            <a:r>
              <a:rPr lang="en-US" sz="9499">
                <a:solidFill>
                  <a:srgbClr val="000000"/>
                </a:solidFill>
                <a:latin typeface="Impact"/>
                <a:ea typeface="Impact"/>
                <a:cs typeface="Impact"/>
                <a:sym typeface="Impact"/>
              </a:rPr>
              <a:t>DEMOSTRACIÓN </a:t>
            </a:r>
            <a:endParaRPr/>
          </a:p>
        </p:txBody>
      </p:sp>
      <p:pic>
        <p:nvPicPr>
          <p:cNvPr id="527" name="Google Shape;527;p17" title="Demostracion Incremento 1.mp4">
            <a:hlinkClick r:id="rId3"/>
          </p:cNvPr>
          <p:cNvPicPr preferRelativeResize="0"/>
          <p:nvPr/>
        </p:nvPicPr>
        <p:blipFill>
          <a:blip r:embed="rId4">
            <a:alphaModFix/>
          </a:blip>
          <a:stretch>
            <a:fillRect/>
          </a:stretch>
        </p:blipFill>
        <p:spPr>
          <a:xfrm>
            <a:off x="2679075" y="2218950"/>
            <a:ext cx="11980675" cy="6519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
                                        </p:tgtEl>
                                        <p:attrNameLst>
                                          <p:attrName>style.visibility</p:attrName>
                                        </p:attrNameLst>
                                      </p:cBhvr>
                                      <p:to>
                                        <p:strVal val="visible"/>
                                      </p:to>
                                    </p:set>
                                    <p:animEffect filter="fade" transition="in">
                                      <p:cBhvr>
                                        <p:cTn dur="1000"/>
                                        <p:tgtEl>
                                          <p:spTgt spid="5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grpSp>
        <p:nvGrpSpPr>
          <p:cNvPr id="536" name="Google Shape;536;p18"/>
          <p:cNvGrpSpPr/>
          <p:nvPr/>
        </p:nvGrpSpPr>
        <p:grpSpPr>
          <a:xfrm>
            <a:off x="-4432416" y="4521897"/>
            <a:ext cx="7613660" cy="7613660"/>
            <a:chOff x="0" y="0"/>
            <a:chExt cx="812800" cy="812800"/>
          </a:xfrm>
        </p:grpSpPr>
        <p:sp>
          <p:nvSpPr>
            <p:cNvPr id="537" name="Google Shape;537;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39" name="Google Shape;539;p18"/>
          <p:cNvGrpSpPr/>
          <p:nvPr/>
        </p:nvGrpSpPr>
        <p:grpSpPr>
          <a:xfrm>
            <a:off x="-106638" y="7826559"/>
            <a:ext cx="18501275" cy="2692611"/>
            <a:chOff x="0" y="-38100"/>
            <a:chExt cx="4872764" cy="709165"/>
          </a:xfrm>
        </p:grpSpPr>
        <p:sp>
          <p:nvSpPr>
            <p:cNvPr id="540" name="Google Shape;540;p18"/>
            <p:cNvSpPr/>
            <p:nvPr/>
          </p:nvSpPr>
          <p:spPr>
            <a:xfrm>
              <a:off x="0" y="0"/>
              <a:ext cx="4872764" cy="671065"/>
            </a:xfrm>
            <a:custGeom>
              <a:rect b="b" l="l" r="r" t="t"/>
              <a:pathLst>
                <a:path extrusionOk="0" h="671065" w="4872764">
                  <a:moveTo>
                    <a:pt x="0" y="0"/>
                  </a:moveTo>
                  <a:lnTo>
                    <a:pt x="4872764" y="0"/>
                  </a:lnTo>
                  <a:lnTo>
                    <a:pt x="4872764" y="671065"/>
                  </a:lnTo>
                  <a:lnTo>
                    <a:pt x="0" y="67106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18"/>
            <p:cNvSpPr txBox="1"/>
            <p:nvPr/>
          </p:nvSpPr>
          <p:spPr>
            <a:xfrm>
              <a:off x="0" y="-38100"/>
              <a:ext cx="4872764" cy="70916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42" name="Google Shape;542;p18"/>
          <p:cNvGrpSpPr/>
          <p:nvPr/>
        </p:nvGrpSpPr>
        <p:grpSpPr>
          <a:xfrm>
            <a:off x="13172228" y="2080353"/>
            <a:ext cx="2291432" cy="2291432"/>
            <a:chOff x="0" y="0"/>
            <a:chExt cx="812800" cy="812800"/>
          </a:xfrm>
        </p:grpSpPr>
        <p:sp>
          <p:nvSpPr>
            <p:cNvPr id="543" name="Google Shape;543;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5" name="Google Shape;545;p18"/>
          <p:cNvSpPr/>
          <p:nvPr/>
        </p:nvSpPr>
        <p:spPr>
          <a:xfrm flipH="1">
            <a:off x="10749198" y="6312597"/>
            <a:ext cx="4714462" cy="420373"/>
          </a:xfrm>
          <a:custGeom>
            <a:rect b="b" l="l" r="r" t="t"/>
            <a:pathLst>
              <a:path extrusionOk="0" h="420373" w="4714462">
                <a:moveTo>
                  <a:pt x="4714463" y="0"/>
                </a:moveTo>
                <a:lnTo>
                  <a:pt x="0" y="0"/>
                </a:lnTo>
                <a:lnTo>
                  <a:pt x="0" y="420373"/>
                </a:lnTo>
                <a:lnTo>
                  <a:pt x="4714463" y="420373"/>
                </a:lnTo>
                <a:lnTo>
                  <a:pt x="4714463"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46" name="Google Shape;546;p18"/>
          <p:cNvGrpSpPr/>
          <p:nvPr/>
        </p:nvGrpSpPr>
        <p:grpSpPr>
          <a:xfrm>
            <a:off x="-2609694" y="5597423"/>
            <a:ext cx="4689577" cy="4689577"/>
            <a:chOff x="0" y="0"/>
            <a:chExt cx="812800" cy="812800"/>
          </a:xfrm>
        </p:grpSpPr>
        <p:sp>
          <p:nvSpPr>
            <p:cNvPr id="547" name="Google Shape;547;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49" name="Google Shape;549;p18"/>
          <p:cNvGrpSpPr/>
          <p:nvPr/>
        </p:nvGrpSpPr>
        <p:grpSpPr>
          <a:xfrm>
            <a:off x="14740038" y="-3443680"/>
            <a:ext cx="6669748" cy="6669748"/>
            <a:chOff x="0" y="0"/>
            <a:chExt cx="812800" cy="812800"/>
          </a:xfrm>
        </p:grpSpPr>
        <p:sp>
          <p:nvSpPr>
            <p:cNvPr id="550" name="Google Shape;550;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2" name="Google Shape;552;p18"/>
          <p:cNvSpPr/>
          <p:nvPr/>
        </p:nvSpPr>
        <p:spPr>
          <a:xfrm>
            <a:off x="14317944" y="8835817"/>
            <a:ext cx="1145716" cy="422483"/>
          </a:xfrm>
          <a:custGeom>
            <a:rect b="b" l="l" r="r" t="t"/>
            <a:pathLst>
              <a:path extrusionOk="0" h="422483" w="1145716">
                <a:moveTo>
                  <a:pt x="0" y="0"/>
                </a:moveTo>
                <a:lnTo>
                  <a:pt x="1145717" y="0"/>
                </a:lnTo>
                <a:lnTo>
                  <a:pt x="1145717" y="422483"/>
                </a:lnTo>
                <a:lnTo>
                  <a:pt x="0" y="422483"/>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18"/>
          <p:cNvSpPr txBox="1"/>
          <p:nvPr/>
        </p:nvSpPr>
        <p:spPr>
          <a:xfrm>
            <a:off x="1143000" y="2461975"/>
            <a:ext cx="16383000" cy="2641749"/>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lang="en-US" sz="9999">
                <a:solidFill>
                  <a:srgbClr val="000000"/>
                </a:solidFill>
                <a:latin typeface="Impact"/>
                <a:ea typeface="Impact"/>
                <a:cs typeface="Impact"/>
                <a:sym typeface="Impact"/>
              </a:rPr>
              <a:t>GRUPO 18:PUERTAS BLINDADAS - MODULO FINANCIERO</a:t>
            </a:r>
            <a:endParaRPr/>
          </a:p>
        </p:txBody>
      </p:sp>
      <p:sp>
        <p:nvSpPr>
          <p:cNvPr id="554" name="Google Shape;554;p18"/>
          <p:cNvSpPr txBox="1"/>
          <p:nvPr/>
        </p:nvSpPr>
        <p:spPr>
          <a:xfrm>
            <a:off x="4349834" y="5678872"/>
            <a:ext cx="5851822" cy="1758948"/>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Angella Sanchez</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Daniella Lecanda</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Gianella Catalán</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Sebastian Bravo</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Vicente Hernandez</a:t>
            </a:r>
            <a:endParaRPr/>
          </a:p>
        </p:txBody>
      </p:sp>
      <p:sp>
        <p:nvSpPr>
          <p:cNvPr id="555" name="Google Shape;555;p18"/>
          <p:cNvSpPr/>
          <p:nvPr/>
        </p:nvSpPr>
        <p:spPr>
          <a:xfrm>
            <a:off x="285085" y="176461"/>
            <a:ext cx="5519290" cy="2028339"/>
          </a:xfrm>
          <a:custGeom>
            <a:rect b="b" l="l" r="r" t="t"/>
            <a:pathLst>
              <a:path extrusionOk="0" h="2028339" w="5519290">
                <a:moveTo>
                  <a:pt x="0" y="0"/>
                </a:moveTo>
                <a:lnTo>
                  <a:pt x="5519289" y="0"/>
                </a:lnTo>
                <a:lnTo>
                  <a:pt x="5519289" y="2028339"/>
                </a:lnTo>
                <a:lnTo>
                  <a:pt x="0" y="202833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